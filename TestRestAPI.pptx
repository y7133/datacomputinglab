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7" r:id="rId2"/>
    <p:sldId id="626" r:id="rId3"/>
    <p:sldId id="625" r:id="rId4"/>
    <p:sldId id="648" r:id="rId5"/>
    <p:sldId id="649" r:id="rId6"/>
    <p:sldId id="650" r:id="rId7"/>
    <p:sldId id="653" r:id="rId8"/>
    <p:sldId id="654" r:id="rId9"/>
    <p:sldId id="678" r:id="rId10"/>
    <p:sldId id="655" r:id="rId11"/>
    <p:sldId id="656" r:id="rId12"/>
    <p:sldId id="658" r:id="rId13"/>
    <p:sldId id="662" r:id="rId14"/>
    <p:sldId id="657" r:id="rId15"/>
    <p:sldId id="679" r:id="rId16"/>
    <p:sldId id="659" r:id="rId17"/>
    <p:sldId id="660" r:id="rId18"/>
    <p:sldId id="661" r:id="rId19"/>
    <p:sldId id="663" r:id="rId20"/>
    <p:sldId id="664" r:id="rId21"/>
    <p:sldId id="665" r:id="rId22"/>
    <p:sldId id="666" r:id="rId23"/>
    <p:sldId id="667" r:id="rId24"/>
    <p:sldId id="668" r:id="rId25"/>
    <p:sldId id="669" r:id="rId26"/>
    <p:sldId id="670" r:id="rId27"/>
    <p:sldId id="671" r:id="rId28"/>
    <p:sldId id="674" r:id="rId29"/>
    <p:sldId id="672" r:id="rId30"/>
    <p:sldId id="675" r:id="rId31"/>
    <p:sldId id="677" r:id="rId32"/>
    <p:sldId id="676" r:id="rId33"/>
    <p:sldId id="611" r:id="rId3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890648-0623-425A-9E45-E378A81C67E8}" type="datetimeFigureOut">
              <a:rPr lang="ko-KR" altLang="en-US" smtClean="0"/>
              <a:t>2020-07-16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0B0B2F-7BA1-4F17-8DD2-0C7B81D795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9109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이번주에는 </a:t>
            </a:r>
            <a:r>
              <a:rPr lang="en-US" altLang="ko-KR" dirty="0"/>
              <a:t>REST API</a:t>
            </a:r>
            <a:r>
              <a:rPr lang="ko-KR" altLang="en-US" dirty="0"/>
              <a:t>에 대한 간단한 예제를 실습해 보았습니다</a:t>
            </a:r>
            <a:r>
              <a:rPr lang="en-US" altLang="ko-KR"/>
              <a:t>.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16550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목차는 이러한 </a:t>
            </a:r>
            <a:r>
              <a:rPr lang="ko-KR" altLang="en-US" dirty="0" err="1"/>
              <a:t>순이구요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656124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먼저 실습하기전에</a:t>
            </a:r>
            <a:r>
              <a:rPr lang="en-US" altLang="ko-KR" dirty="0"/>
              <a:t>, </a:t>
            </a:r>
            <a:r>
              <a:rPr lang="ko-KR" altLang="en-US" dirty="0"/>
              <a:t>제가 사용한 </a:t>
            </a:r>
            <a:r>
              <a:rPr lang="en-US" altLang="ko-KR" dirty="0"/>
              <a:t>AWS</a:t>
            </a:r>
            <a:r>
              <a:rPr lang="ko-KR" altLang="en-US" dirty="0"/>
              <a:t>의 서비스에 대해 간단하게 알아보겠습니다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AWS</a:t>
            </a:r>
            <a:r>
              <a:rPr lang="ko-KR" altLang="en-US" dirty="0"/>
              <a:t>란 아마존에서 제공하는 클라우드 서비스로</a:t>
            </a:r>
            <a:r>
              <a:rPr lang="en-US" altLang="ko-KR" dirty="0"/>
              <a:t>,</a:t>
            </a:r>
            <a:r>
              <a:rPr lang="ko-KR" altLang="en-US" dirty="0"/>
              <a:t>네트워킹을 기반으로 가상 컴퓨터와 스토리지</a:t>
            </a:r>
            <a:r>
              <a:rPr lang="en-US" altLang="ko-KR" dirty="0"/>
              <a:t>,</a:t>
            </a:r>
            <a:r>
              <a:rPr lang="ko-KR" altLang="en-US" dirty="0"/>
              <a:t>네트워크 </a:t>
            </a:r>
            <a:r>
              <a:rPr lang="ko-KR" altLang="en-US" dirty="0" err="1"/>
              <a:t>인프라등</a:t>
            </a:r>
            <a:r>
              <a:rPr lang="ko-KR" altLang="en-US" dirty="0"/>
              <a:t> 다양한 서비스를 제공합니다</a:t>
            </a:r>
          </a:p>
          <a:p>
            <a:r>
              <a:rPr lang="ko-KR" altLang="en-US" dirty="0"/>
              <a:t>또한 비즈니스와 개발자 웹서비스를 사용하여 확장 가능하고 정교한 애플리케이션을 구축하도록 지원하고 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AWS</a:t>
            </a:r>
            <a:r>
              <a:rPr lang="ko-KR" altLang="en-US" dirty="0"/>
              <a:t>의 장점은 저렴한 비용</a:t>
            </a:r>
            <a:r>
              <a:rPr lang="en-US" altLang="ko-KR" dirty="0"/>
              <a:t>,</a:t>
            </a:r>
            <a:r>
              <a:rPr lang="ko-KR" altLang="en-US" dirty="0"/>
              <a:t>속도 및 민첩성 개선</a:t>
            </a:r>
            <a:r>
              <a:rPr lang="en-US" altLang="ko-KR" dirty="0"/>
              <a:t>, </a:t>
            </a:r>
            <a:r>
              <a:rPr lang="ko-KR" altLang="en-US" dirty="0"/>
              <a:t>다양한 플랫폼서비스 </a:t>
            </a:r>
            <a:r>
              <a:rPr lang="ko-KR" altLang="en-US" dirty="0" err="1"/>
              <a:t>제공등이</a:t>
            </a:r>
            <a:r>
              <a:rPr lang="ko-KR" altLang="en-US" dirty="0"/>
              <a:t> 있습니다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133340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AWS </a:t>
            </a:r>
            <a:r>
              <a:rPr lang="ko-KR" altLang="en-US" dirty="0" err="1"/>
              <a:t>서비스중</a:t>
            </a:r>
            <a:r>
              <a:rPr lang="ko-KR" altLang="en-US" dirty="0"/>
              <a:t> </a:t>
            </a:r>
            <a:r>
              <a:rPr lang="en-US" altLang="ko-KR" dirty="0"/>
              <a:t>AWS Lambda</a:t>
            </a:r>
            <a:r>
              <a:rPr lang="ko-KR" altLang="en-US" dirty="0"/>
              <a:t>에 대해 알려드리겠습니다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AWS Lambda</a:t>
            </a:r>
            <a:r>
              <a:rPr lang="ko-KR" altLang="en-US" dirty="0"/>
              <a:t>란 서버를 </a:t>
            </a:r>
            <a:r>
              <a:rPr lang="ko-KR" altLang="en-US" dirty="0" err="1"/>
              <a:t>프로비저닝하거나</a:t>
            </a:r>
            <a:r>
              <a:rPr lang="ko-KR" altLang="en-US" dirty="0"/>
              <a:t> 관리하지 않고도 실행할 수 있게 해주는 </a:t>
            </a:r>
            <a:r>
              <a:rPr lang="ko-KR" altLang="en-US" dirty="0" err="1"/>
              <a:t>컴퓨팅서비스이며</a:t>
            </a:r>
            <a:r>
              <a:rPr lang="ko-KR" altLang="en-US" dirty="0"/>
              <a:t> 코드를 별도의 관리없이 실행할 수 있습니다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245625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AWS API Gateway</a:t>
            </a:r>
            <a:r>
              <a:rPr lang="ko-KR" altLang="en-US" dirty="0"/>
              <a:t>를 사용하여 </a:t>
            </a:r>
            <a:r>
              <a:rPr lang="en-US" altLang="ko-KR" dirty="0"/>
              <a:t>HTTP</a:t>
            </a:r>
            <a:r>
              <a:rPr lang="ko-KR" altLang="en-US" dirty="0"/>
              <a:t>요청에 대한 응답으로 코드를 실행할 수 있으며 자체 </a:t>
            </a:r>
            <a:r>
              <a:rPr lang="ko-KR" altLang="en-US" dirty="0" err="1"/>
              <a:t>백엔드를</a:t>
            </a:r>
            <a:r>
              <a:rPr lang="ko-KR" altLang="en-US" dirty="0"/>
              <a:t> 생성할 수 도 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AWS API Gateway</a:t>
            </a:r>
            <a:r>
              <a:rPr lang="ko-KR" altLang="en-US" dirty="0"/>
              <a:t>란 개발자가 </a:t>
            </a:r>
            <a:r>
              <a:rPr lang="en-US" altLang="ko-KR" dirty="0"/>
              <a:t>API</a:t>
            </a:r>
            <a:r>
              <a:rPr lang="ko-KR" altLang="en-US" dirty="0"/>
              <a:t>를 손쉽게 생성</a:t>
            </a:r>
            <a:r>
              <a:rPr lang="en-US" altLang="ko-KR" dirty="0"/>
              <a:t>,</a:t>
            </a:r>
            <a:r>
              <a:rPr lang="ko-KR" altLang="en-US" dirty="0"/>
              <a:t>게시</a:t>
            </a:r>
            <a:r>
              <a:rPr lang="en-US" altLang="ko-KR" dirty="0"/>
              <a:t>,</a:t>
            </a:r>
            <a:r>
              <a:rPr lang="ko-KR" altLang="en-US" dirty="0"/>
              <a:t>유지</a:t>
            </a:r>
            <a:r>
              <a:rPr lang="en-US" altLang="ko-KR" dirty="0"/>
              <a:t>,</a:t>
            </a:r>
            <a:r>
              <a:rPr lang="ko-KR" altLang="en-US" dirty="0"/>
              <a:t>관리</a:t>
            </a:r>
            <a:r>
              <a:rPr lang="en-US" altLang="ko-KR" dirty="0"/>
              <a:t>,</a:t>
            </a:r>
            <a:r>
              <a:rPr lang="ko-KR" altLang="en-US" dirty="0"/>
              <a:t>모니터링 및 </a:t>
            </a:r>
            <a:r>
              <a:rPr lang="ko-KR" altLang="en-US" dirty="0" err="1"/>
              <a:t>보안유지할</a:t>
            </a:r>
            <a:r>
              <a:rPr lang="ko-KR" altLang="en-US" dirty="0"/>
              <a:t> 수 </a:t>
            </a:r>
            <a:r>
              <a:rPr lang="ko-KR" altLang="en-US" dirty="0" err="1"/>
              <a:t>있도록하는</a:t>
            </a:r>
            <a:r>
              <a:rPr lang="ko-KR" altLang="en-US" dirty="0"/>
              <a:t> </a:t>
            </a:r>
            <a:r>
              <a:rPr lang="ko-KR" altLang="en-US" dirty="0" err="1"/>
              <a:t>완전관리형서비스로</a:t>
            </a:r>
            <a:endParaRPr lang="ko-KR" altLang="en-US" dirty="0"/>
          </a:p>
          <a:p>
            <a:r>
              <a:rPr lang="en-US" altLang="ko-KR" dirty="0"/>
              <a:t>REST </a:t>
            </a:r>
            <a:r>
              <a:rPr lang="en-US" altLang="ko-KR" dirty="0" err="1"/>
              <a:t>API,Websocket</a:t>
            </a:r>
            <a:r>
              <a:rPr lang="en-US" altLang="ko-KR" dirty="0"/>
              <a:t> API</a:t>
            </a:r>
            <a:r>
              <a:rPr lang="ko-KR" altLang="en-US" dirty="0"/>
              <a:t>를 제공하고 있습니다</a:t>
            </a:r>
          </a:p>
          <a:p>
            <a:r>
              <a:rPr lang="ko-KR" altLang="en-US" dirty="0" err="1"/>
              <a:t>이제본격적으로</a:t>
            </a:r>
            <a:r>
              <a:rPr lang="ko-KR" altLang="en-US" dirty="0"/>
              <a:t>  이 두 플랫폼을 이용하여 </a:t>
            </a:r>
            <a:r>
              <a:rPr lang="en-US" altLang="ko-KR" dirty="0"/>
              <a:t>REST API</a:t>
            </a:r>
            <a:r>
              <a:rPr lang="ko-KR" altLang="en-US" dirty="0"/>
              <a:t>를 설계한 내용을 말씀드리겠습니다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930197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먼저 개발도구로는 </a:t>
            </a:r>
            <a:r>
              <a:rPr lang="en-US" altLang="ko-KR" dirty="0"/>
              <a:t>AWS API GATEWAY, AWS Lambda, Talend API Tester, Node.js Library, Mongo DB</a:t>
            </a:r>
            <a:r>
              <a:rPr lang="ko-KR" altLang="en-US" dirty="0"/>
              <a:t>를 사용하였습니다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552695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저는 </a:t>
            </a:r>
            <a:r>
              <a:rPr lang="en-US" altLang="ko-KR" dirty="0"/>
              <a:t>REST </a:t>
            </a:r>
            <a:r>
              <a:rPr lang="en-US" altLang="ko-KR" dirty="0" err="1"/>
              <a:t>API,Lambda</a:t>
            </a:r>
            <a:r>
              <a:rPr lang="ko-KR" altLang="en-US" dirty="0"/>
              <a:t>를 사용하여 게시판 서버를 만들어 </a:t>
            </a:r>
            <a:r>
              <a:rPr lang="en-US" altLang="ko-KR" dirty="0"/>
              <a:t>METHOD</a:t>
            </a:r>
            <a:r>
              <a:rPr lang="ko-KR" altLang="en-US" dirty="0"/>
              <a:t>들을 실행해보는 간단한 실습을 진행하였습니다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먼저 </a:t>
            </a:r>
            <a:r>
              <a:rPr lang="en-US" altLang="ko-KR" dirty="0"/>
              <a:t>API</a:t>
            </a:r>
            <a:r>
              <a:rPr lang="ko-KR" altLang="en-US" dirty="0"/>
              <a:t>를 선택하고 프로토콜과 </a:t>
            </a:r>
            <a:r>
              <a:rPr lang="en-US" altLang="ko-KR" dirty="0"/>
              <a:t>API</a:t>
            </a:r>
            <a:r>
              <a:rPr lang="ko-KR" altLang="en-US" dirty="0"/>
              <a:t>를 생성합니다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864446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Boards</a:t>
            </a:r>
            <a:r>
              <a:rPr lang="ko-KR" altLang="en-US" dirty="0"/>
              <a:t>라는 리소스 생성 및 메소드를 생성합니다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94627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모든 </a:t>
            </a:r>
            <a:r>
              <a:rPr lang="en-US" altLang="ko-KR" dirty="0"/>
              <a:t>path parameter</a:t>
            </a:r>
            <a:r>
              <a:rPr lang="ko-KR" altLang="en-US" dirty="0"/>
              <a:t>를 </a:t>
            </a:r>
            <a:r>
              <a:rPr lang="ko-KR" altLang="en-US" dirty="0" err="1"/>
              <a:t>받을수있게</a:t>
            </a:r>
            <a:r>
              <a:rPr lang="ko-KR" altLang="en-US" dirty="0"/>
              <a:t> </a:t>
            </a:r>
            <a:r>
              <a:rPr lang="en-US" altLang="ko-KR" dirty="0"/>
              <a:t>proxy</a:t>
            </a:r>
            <a:r>
              <a:rPr lang="ko-KR" altLang="en-US" dirty="0"/>
              <a:t>리소스를 생성한다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55408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보통 클라우드내 환경에서 여러 사용자들이 각기 다른 작업을 수행하기 때문에 작업별 필요한 자원의 양이나 종류가 상이하다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405958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이렇게 </a:t>
            </a:r>
            <a:r>
              <a:rPr lang="en-US" dirty="0"/>
              <a:t>API</a:t>
            </a:r>
            <a:r>
              <a:rPr lang="ko-KR" altLang="en-US" dirty="0"/>
              <a:t>를 만든 후에 저는  </a:t>
            </a:r>
            <a:r>
              <a:rPr lang="en-US" altLang="ko-KR" dirty="0"/>
              <a:t>MONGODB</a:t>
            </a:r>
            <a:r>
              <a:rPr lang="ko-KR" altLang="en-US" dirty="0"/>
              <a:t>를 생성하고 연결하는 작업을 하였습니다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412946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보안을 </a:t>
            </a:r>
            <a:r>
              <a:rPr lang="en-US" altLang="ko-KR" dirty="0"/>
              <a:t>setup</a:t>
            </a:r>
            <a:r>
              <a:rPr lang="ko-KR" altLang="en-US" dirty="0"/>
              <a:t>하고 </a:t>
            </a:r>
            <a:r>
              <a:rPr lang="ko-KR" altLang="en-US" dirty="0" err="1"/>
              <a:t>메소드연결</a:t>
            </a:r>
            <a:r>
              <a:rPr lang="ko-KR" altLang="en-US" dirty="0"/>
              <a:t> 선택 </a:t>
            </a:r>
            <a:r>
              <a:rPr lang="ko-KR" altLang="en-US" dirty="0" err="1"/>
              <a:t>창이있는데</a:t>
            </a:r>
            <a:r>
              <a:rPr lang="ko-KR" altLang="en-US" dirty="0"/>
              <a:t> 그때 이 </a:t>
            </a:r>
            <a:r>
              <a:rPr lang="en-US" altLang="ko-KR" dirty="0"/>
              <a:t>code</a:t>
            </a:r>
            <a:r>
              <a:rPr lang="ko-KR" altLang="en-US" dirty="0"/>
              <a:t>를 복사합니다 이 </a:t>
            </a:r>
            <a:r>
              <a:rPr lang="en-US" altLang="ko-KR" dirty="0"/>
              <a:t>code</a:t>
            </a:r>
            <a:r>
              <a:rPr lang="ko-KR" altLang="en-US" dirty="0"/>
              <a:t>는 나중에 </a:t>
            </a:r>
            <a:r>
              <a:rPr lang="en-US" altLang="ko-KR" dirty="0"/>
              <a:t>lambda</a:t>
            </a:r>
            <a:r>
              <a:rPr lang="ko-KR" altLang="en-US" dirty="0"/>
              <a:t>함수 작성시 </a:t>
            </a:r>
            <a:r>
              <a:rPr lang="en-US" altLang="ko-KR" dirty="0" err="1"/>
              <a:t>mongodb</a:t>
            </a:r>
            <a:r>
              <a:rPr lang="ko-KR" altLang="en-US" dirty="0"/>
              <a:t>와 연결하는 환경변수에 이용됩니다</a:t>
            </a:r>
            <a:r>
              <a:rPr lang="en-US" altLang="ko-KR" dirty="0"/>
              <a:t>. </a:t>
            </a:r>
            <a:r>
              <a:rPr lang="ko-KR" altLang="en-US" dirty="0"/>
              <a:t>그후 다시 </a:t>
            </a:r>
            <a:r>
              <a:rPr lang="ko-KR" altLang="en-US" dirty="0" err="1"/>
              <a:t>뒤로넘어가</a:t>
            </a:r>
            <a:r>
              <a:rPr lang="ko-KR" altLang="en-US" dirty="0"/>
              <a:t> </a:t>
            </a:r>
            <a:r>
              <a:rPr lang="en-US" altLang="ko-KR" dirty="0" err="1"/>
              <a:t>ip</a:t>
            </a:r>
            <a:r>
              <a:rPr lang="en-US" altLang="ko-KR" dirty="0"/>
              <a:t> address</a:t>
            </a:r>
            <a:r>
              <a:rPr lang="ko-KR" altLang="en-US" dirty="0"/>
              <a:t>를 추가합니다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794780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추가한 </a:t>
            </a:r>
            <a:r>
              <a:rPr lang="en-US" altLang="ko-KR" dirty="0" err="1"/>
              <a:t>ipaddress</a:t>
            </a:r>
            <a:r>
              <a:rPr lang="en-US" altLang="ko-KR" dirty="0"/>
              <a:t> </a:t>
            </a:r>
            <a:r>
              <a:rPr lang="ko-KR" altLang="en-US" dirty="0"/>
              <a:t>창을 다시보면 </a:t>
            </a:r>
            <a:r>
              <a:rPr lang="en-US" altLang="ko-KR" dirty="0" err="1"/>
              <a:t>ip</a:t>
            </a:r>
            <a:r>
              <a:rPr lang="en-US" altLang="ko-KR" dirty="0"/>
              <a:t> whitelist tab</a:t>
            </a:r>
            <a:r>
              <a:rPr lang="ko-KR" altLang="en-US" dirty="0"/>
              <a:t>이 있는데 </a:t>
            </a:r>
            <a:r>
              <a:rPr lang="en-US" altLang="ko-KR" dirty="0" err="1"/>
              <a:t>ip</a:t>
            </a:r>
            <a:r>
              <a:rPr lang="en-US" altLang="ko-KR" dirty="0"/>
              <a:t> whitelist</a:t>
            </a:r>
            <a:r>
              <a:rPr lang="ko-KR" altLang="en-US" dirty="0"/>
              <a:t>란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승인된 컴퓨터의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IP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주소를 나열하여 현재 사용하는 컴퓨터와 상호 작용할 수 있는 컴퓨터를 필터링하는 방법입니다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ip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허용하기 위해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allow access from anywhere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버튼을 누르고 확인버튼을 누릅니다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613735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앞의 </a:t>
            </a:r>
            <a:r>
              <a:rPr lang="ko-KR" altLang="en-US" dirty="0" err="1"/>
              <a:t>전처리</a:t>
            </a:r>
            <a:r>
              <a:rPr lang="ko-KR" altLang="en-US" dirty="0"/>
              <a:t> 작업들이 되었다면</a:t>
            </a:r>
            <a:r>
              <a:rPr lang="en-US" altLang="ko-KR" dirty="0"/>
              <a:t>, </a:t>
            </a:r>
            <a:r>
              <a:rPr lang="ko-KR" altLang="en-US" dirty="0"/>
              <a:t>이제 게시판서버 구축을 본격적으로 해보겠습니다</a:t>
            </a:r>
            <a:r>
              <a:rPr lang="en-US" altLang="ko-KR" dirty="0"/>
              <a:t>. </a:t>
            </a:r>
            <a:r>
              <a:rPr lang="ko-KR" altLang="en-US" dirty="0"/>
              <a:t>먼저 </a:t>
            </a:r>
            <a:r>
              <a:rPr lang="en-US" altLang="ko-KR" dirty="0"/>
              <a:t>AWS Lambda</a:t>
            </a:r>
            <a:r>
              <a:rPr lang="ko-KR" altLang="en-US" dirty="0"/>
              <a:t>함수를 생성합니다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212341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아까 복사한 </a:t>
            </a:r>
            <a:r>
              <a:rPr lang="en-US" altLang="ko-KR" dirty="0"/>
              <a:t>code</a:t>
            </a:r>
            <a:r>
              <a:rPr lang="ko-KR" altLang="en-US" dirty="0"/>
              <a:t>를 이용하여 환경변수를 만듭니다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471161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Aws</a:t>
            </a:r>
            <a:r>
              <a:rPr lang="ko-KR" altLang="en-US" dirty="0"/>
              <a:t> </a:t>
            </a:r>
            <a:r>
              <a:rPr lang="en-US" altLang="ko-KR" dirty="0"/>
              <a:t>lambda</a:t>
            </a:r>
            <a:r>
              <a:rPr lang="ko-KR" altLang="en-US" dirty="0"/>
              <a:t>에 </a:t>
            </a:r>
            <a:r>
              <a:rPr lang="en-US" altLang="ko-KR" dirty="0" err="1"/>
              <a:t>mongodb</a:t>
            </a:r>
            <a:r>
              <a:rPr lang="ko-KR" altLang="en-US" dirty="0"/>
              <a:t>라이브러리가 없기 때문에 먼저 </a:t>
            </a:r>
            <a:r>
              <a:rPr lang="en-US" altLang="ko-KR" dirty="0"/>
              <a:t>node.js</a:t>
            </a:r>
            <a:r>
              <a:rPr lang="ko-KR" altLang="en-US" dirty="0"/>
              <a:t>라이브러리를 설치하고 </a:t>
            </a:r>
            <a:r>
              <a:rPr lang="en-US" altLang="ko-KR" dirty="0" err="1"/>
              <a:t>npm</a:t>
            </a:r>
            <a:r>
              <a:rPr lang="ko-KR" altLang="en-US" dirty="0"/>
              <a:t>명령어로 </a:t>
            </a:r>
            <a:r>
              <a:rPr lang="en-US" altLang="ko-KR" dirty="0"/>
              <a:t>mongoose</a:t>
            </a:r>
            <a:r>
              <a:rPr lang="ko-KR" altLang="en-US" dirty="0"/>
              <a:t>라이브러리를 설치합니다 </a:t>
            </a:r>
            <a:endParaRPr lang="en-US" altLang="ko-KR" dirty="0"/>
          </a:p>
          <a:p>
            <a:r>
              <a:rPr lang="ko-KR" altLang="en-US" dirty="0"/>
              <a:t>그후 라이브러리를 압축하고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440783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aWS</a:t>
            </a:r>
            <a:r>
              <a:rPr lang="en-US" dirty="0"/>
              <a:t> lambda</a:t>
            </a:r>
            <a:r>
              <a:rPr lang="ko-KR" altLang="en-US" dirty="0"/>
              <a:t>의 </a:t>
            </a:r>
            <a:r>
              <a:rPr lang="en-US" altLang="ko-KR" dirty="0"/>
              <a:t>layer</a:t>
            </a:r>
            <a:r>
              <a:rPr lang="ko-KR" altLang="en-US" dirty="0"/>
              <a:t>에 등록합니다</a:t>
            </a:r>
            <a:r>
              <a:rPr lang="en-US" altLang="ko-KR" dirty="0"/>
              <a:t>. </a:t>
            </a:r>
            <a:r>
              <a:rPr lang="ko-KR" altLang="en-US" dirty="0"/>
              <a:t>이때 </a:t>
            </a:r>
            <a:r>
              <a:rPr lang="en-US" altLang="ko-KR" dirty="0"/>
              <a:t>lambda</a:t>
            </a:r>
            <a:r>
              <a:rPr lang="ko-KR" altLang="en-US" dirty="0"/>
              <a:t>함수와 같은 런타임을 선택합니다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25131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Lambda</a:t>
            </a:r>
            <a:r>
              <a:rPr lang="ko-KR" altLang="en-US" dirty="0"/>
              <a:t>함수에 </a:t>
            </a:r>
            <a:r>
              <a:rPr lang="en-US" altLang="ko-KR" dirty="0"/>
              <a:t>layer</a:t>
            </a:r>
            <a:r>
              <a:rPr lang="ko-KR" altLang="en-US" dirty="0"/>
              <a:t>를 등록하고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157497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Lambda</a:t>
            </a:r>
            <a:r>
              <a:rPr lang="ko-KR" altLang="en-US" dirty="0"/>
              <a:t>함수를 작성합니다</a:t>
            </a:r>
            <a:r>
              <a:rPr lang="en-US" altLang="ko-KR" dirty="0"/>
              <a:t>.</a:t>
            </a:r>
            <a:r>
              <a:rPr lang="ko-KR" altLang="en-US" dirty="0"/>
              <a:t>그 후 게시물번호</a:t>
            </a:r>
            <a:r>
              <a:rPr lang="en-US" altLang="ko-KR" dirty="0"/>
              <a:t>,</a:t>
            </a:r>
            <a:r>
              <a:rPr lang="ko-KR" altLang="en-US" dirty="0"/>
              <a:t>게시물작성자</a:t>
            </a:r>
            <a:r>
              <a:rPr lang="en-US" altLang="ko-KR" dirty="0"/>
              <a:t>,</a:t>
            </a:r>
            <a:r>
              <a:rPr lang="ko-KR" altLang="en-US" dirty="0"/>
              <a:t>게시물 비밀번호</a:t>
            </a:r>
            <a:r>
              <a:rPr lang="en-US" altLang="ko-KR" dirty="0"/>
              <a:t>,</a:t>
            </a:r>
            <a:r>
              <a:rPr lang="ko-KR" altLang="en-US" dirty="0"/>
              <a:t>게시물 내용</a:t>
            </a:r>
            <a:r>
              <a:rPr lang="en-US" altLang="ko-KR" dirty="0"/>
              <a:t>,</a:t>
            </a:r>
            <a:r>
              <a:rPr lang="ko-KR" altLang="en-US" dirty="0"/>
              <a:t>게시물 작성일자순으로 </a:t>
            </a:r>
            <a:r>
              <a:rPr lang="en-US" altLang="ko-KR" dirty="0"/>
              <a:t>Board </a:t>
            </a:r>
            <a:r>
              <a:rPr lang="ko-KR" altLang="en-US" dirty="0"/>
              <a:t>오브젝트를 정의합니다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351334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그리고 </a:t>
            </a:r>
            <a:r>
              <a:rPr lang="en-US" altLang="ko-KR" dirty="0"/>
              <a:t>MongoDB</a:t>
            </a:r>
            <a:r>
              <a:rPr lang="ko-KR" altLang="en-US" dirty="0"/>
              <a:t>를 연결하고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20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160648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먼저 </a:t>
            </a:r>
            <a:r>
              <a:rPr lang="en-US" altLang="ko-KR" dirty="0"/>
              <a:t>GET</a:t>
            </a:r>
            <a:r>
              <a:rPr lang="ko-KR" altLang="en-US" dirty="0"/>
              <a:t>함수를 정의하는데 </a:t>
            </a:r>
            <a:r>
              <a:rPr lang="en-US" altLang="ko-KR" dirty="0"/>
              <a:t>GET</a:t>
            </a:r>
            <a:r>
              <a:rPr lang="ko-KR" altLang="en-US" dirty="0"/>
              <a:t>은 전체 게시글 정보를 불러오는 기능입니다</a:t>
            </a:r>
            <a:r>
              <a:rPr lang="en-US" altLang="ko-KR" dirty="0"/>
              <a:t>. query</a:t>
            </a:r>
            <a:r>
              <a:rPr lang="ko-KR" altLang="en-US" dirty="0"/>
              <a:t>안의 </a:t>
            </a:r>
            <a:r>
              <a:rPr lang="en-US" altLang="ko-KR" dirty="0"/>
              <a:t>name</a:t>
            </a:r>
            <a:r>
              <a:rPr lang="ko-KR" altLang="en-US" dirty="0"/>
              <a:t>과 </a:t>
            </a:r>
            <a:r>
              <a:rPr lang="en-US" altLang="ko-KR" dirty="0"/>
              <a:t>content</a:t>
            </a:r>
            <a:r>
              <a:rPr lang="ko-KR" altLang="en-US" dirty="0"/>
              <a:t>를 불러와 검색 결과를 내림차순으로 반한하고</a:t>
            </a:r>
            <a:endParaRPr lang="en-US" altLang="ko-KR" dirty="0"/>
          </a:p>
          <a:p>
            <a:r>
              <a:rPr lang="ko-KR" altLang="en-US" dirty="0" err="1"/>
              <a:t>특정게시글</a:t>
            </a:r>
            <a:r>
              <a:rPr lang="ko-KR" altLang="en-US" dirty="0"/>
              <a:t> 정보를 </a:t>
            </a:r>
            <a:r>
              <a:rPr lang="ko-KR" altLang="en-US" dirty="0" err="1"/>
              <a:t>불러올때는</a:t>
            </a:r>
            <a:r>
              <a:rPr lang="ko-KR" altLang="en-US" dirty="0"/>
              <a:t> </a:t>
            </a:r>
            <a:r>
              <a:rPr lang="en-US" altLang="ko-KR" dirty="0"/>
              <a:t>proxy</a:t>
            </a:r>
            <a:r>
              <a:rPr lang="ko-KR" altLang="en-US" dirty="0"/>
              <a:t>에 </a:t>
            </a:r>
            <a:r>
              <a:rPr lang="en-US" altLang="ko-KR" dirty="0"/>
              <a:t>id</a:t>
            </a:r>
            <a:r>
              <a:rPr lang="ko-KR" altLang="en-US" dirty="0"/>
              <a:t>가 </a:t>
            </a:r>
            <a:r>
              <a:rPr lang="ko-KR" altLang="en-US" dirty="0" err="1"/>
              <a:t>담겨져있어</a:t>
            </a:r>
            <a:r>
              <a:rPr lang="ko-KR" altLang="en-US" dirty="0"/>
              <a:t> 원하는 </a:t>
            </a:r>
            <a:r>
              <a:rPr lang="en-US" altLang="ko-KR" dirty="0"/>
              <a:t>id</a:t>
            </a:r>
            <a:r>
              <a:rPr lang="ko-KR" altLang="en-US" dirty="0"/>
              <a:t>를 검색하여 그 </a:t>
            </a:r>
            <a:r>
              <a:rPr lang="en-US" altLang="ko-KR" dirty="0"/>
              <a:t>id</a:t>
            </a:r>
            <a:r>
              <a:rPr lang="ko-KR" altLang="en-US" dirty="0"/>
              <a:t>의 </a:t>
            </a:r>
            <a:r>
              <a:rPr lang="en-US" altLang="ko-KR" dirty="0"/>
              <a:t>board1</a:t>
            </a:r>
            <a:r>
              <a:rPr lang="ko-KR" altLang="en-US" dirty="0" err="1"/>
              <a:t>개만을</a:t>
            </a:r>
            <a:r>
              <a:rPr lang="ko-KR" altLang="en-US" dirty="0"/>
              <a:t> 가져옵니다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21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964789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</a:t>
            </a:r>
            <a:r>
              <a:rPr lang="ko-KR" altLang="en-US" dirty="0"/>
              <a:t>는 </a:t>
            </a:r>
            <a:r>
              <a:rPr lang="ko-KR" altLang="en-US" dirty="0" err="1"/>
              <a:t>특정게시글을</a:t>
            </a:r>
            <a:r>
              <a:rPr lang="ko-KR" altLang="en-US" dirty="0"/>
              <a:t> 작성하는 메소드로 </a:t>
            </a:r>
            <a:r>
              <a:rPr lang="en-US" altLang="ko-KR" dirty="0" err="1"/>
              <a:t>lastId</a:t>
            </a:r>
            <a:r>
              <a:rPr lang="ko-KR" altLang="en-US" dirty="0"/>
              <a:t>로 최근에 작성된 게시물번호를 가져오고 </a:t>
            </a:r>
            <a:r>
              <a:rPr lang="ko-KR" altLang="en-US" dirty="0" err="1"/>
              <a:t>새로운글을</a:t>
            </a:r>
            <a:r>
              <a:rPr lang="ko-KR" altLang="en-US" dirty="0"/>
              <a:t> 파라미터에 맞게 입력하면 </a:t>
            </a:r>
            <a:r>
              <a:rPr lang="en-US" altLang="ko-KR" dirty="0"/>
              <a:t>lastId+1</a:t>
            </a:r>
            <a:r>
              <a:rPr lang="ko-KR" altLang="en-US" dirty="0"/>
              <a:t>과 글 내용</a:t>
            </a:r>
            <a:r>
              <a:rPr lang="en-US" altLang="ko-KR" dirty="0"/>
              <a:t>,</a:t>
            </a:r>
            <a:r>
              <a:rPr lang="ko-KR" altLang="en-US" dirty="0"/>
              <a:t>작성된 날짜가 </a:t>
            </a:r>
            <a:r>
              <a:rPr lang="en-US" altLang="ko-KR" dirty="0"/>
              <a:t>board</a:t>
            </a:r>
            <a:r>
              <a:rPr lang="ko-KR" altLang="en-US" dirty="0"/>
              <a:t>에 저장됩니다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22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458032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</a:t>
            </a:r>
            <a:r>
              <a:rPr lang="ko-KR" altLang="en-US" dirty="0"/>
              <a:t>은 </a:t>
            </a:r>
            <a:r>
              <a:rPr lang="ko-KR" altLang="en-US" dirty="0" err="1"/>
              <a:t>특정게시글을</a:t>
            </a:r>
            <a:r>
              <a:rPr lang="ko-KR" altLang="en-US" dirty="0"/>
              <a:t> 수정하는 함수이며 </a:t>
            </a:r>
            <a:r>
              <a:rPr lang="en-US" altLang="ko-KR" dirty="0"/>
              <a:t>proxy</a:t>
            </a:r>
            <a:r>
              <a:rPr lang="ko-KR" altLang="en-US" dirty="0"/>
              <a:t>로 </a:t>
            </a:r>
            <a:r>
              <a:rPr lang="en-US" altLang="ko-KR" dirty="0"/>
              <a:t>id</a:t>
            </a:r>
            <a:r>
              <a:rPr lang="ko-KR" altLang="en-US" dirty="0"/>
              <a:t>를 받고 </a:t>
            </a:r>
            <a:r>
              <a:rPr lang="en-US" altLang="ko-KR" dirty="0"/>
              <a:t>password</a:t>
            </a:r>
            <a:r>
              <a:rPr lang="ko-KR" altLang="en-US" dirty="0"/>
              <a:t>를 사용하여 </a:t>
            </a:r>
            <a:r>
              <a:rPr lang="en-US" altLang="ko-KR" dirty="0"/>
              <a:t>password</a:t>
            </a:r>
            <a:r>
              <a:rPr lang="ko-KR" altLang="en-US" dirty="0"/>
              <a:t>가 </a:t>
            </a:r>
            <a:r>
              <a:rPr lang="ko-KR" altLang="en-US" dirty="0" err="1"/>
              <a:t>맞다면</a:t>
            </a:r>
            <a:r>
              <a:rPr lang="ko-KR" altLang="en-US" dirty="0"/>
              <a:t> 사용자가 입력한 </a:t>
            </a:r>
            <a:r>
              <a:rPr lang="en-US" altLang="ko-KR" dirty="0" err="1"/>
              <a:t>name,content,password</a:t>
            </a:r>
            <a:r>
              <a:rPr lang="ko-KR" altLang="en-US" dirty="0"/>
              <a:t>에 맞게 정보가 변경되고 </a:t>
            </a:r>
            <a:r>
              <a:rPr lang="ko-KR" altLang="en-US" dirty="0" err="1"/>
              <a:t>성공시</a:t>
            </a:r>
            <a:r>
              <a:rPr lang="ko-KR" altLang="en-US" dirty="0"/>
              <a:t> </a:t>
            </a:r>
            <a:r>
              <a:rPr lang="en-US" altLang="ko-KR" dirty="0"/>
              <a:t>200</a:t>
            </a:r>
            <a:r>
              <a:rPr lang="ko-KR" altLang="en-US" dirty="0"/>
              <a:t>응답코드와 함께 </a:t>
            </a:r>
            <a:r>
              <a:rPr lang="en-US" altLang="ko-KR" dirty="0"/>
              <a:t>success</a:t>
            </a:r>
            <a:r>
              <a:rPr lang="ko-KR" altLang="en-US" dirty="0"/>
              <a:t>라는 문구가 나옵니다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23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564709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DELETE</a:t>
            </a:r>
            <a:r>
              <a:rPr lang="ko-KR" altLang="en-US" dirty="0"/>
              <a:t>는 </a:t>
            </a:r>
            <a:r>
              <a:rPr lang="ko-KR" altLang="en-US" dirty="0" err="1"/>
              <a:t>특정게시글을</a:t>
            </a:r>
            <a:r>
              <a:rPr lang="ko-KR" altLang="en-US" dirty="0"/>
              <a:t> 삭제하는 함수로 </a:t>
            </a:r>
            <a:r>
              <a:rPr lang="en-US" altLang="ko-KR" dirty="0"/>
              <a:t>proxy</a:t>
            </a:r>
            <a:r>
              <a:rPr lang="ko-KR" altLang="en-US" dirty="0"/>
              <a:t>로 </a:t>
            </a:r>
            <a:r>
              <a:rPr lang="en-US" altLang="ko-KR" dirty="0"/>
              <a:t>id,</a:t>
            </a:r>
            <a:r>
              <a:rPr lang="ko-KR" altLang="en-US" dirty="0"/>
              <a:t>를 받고 </a:t>
            </a:r>
            <a:r>
              <a:rPr lang="en-US" altLang="ko-KR" dirty="0"/>
              <a:t>header</a:t>
            </a:r>
            <a:r>
              <a:rPr lang="ko-KR" altLang="en-US" dirty="0"/>
              <a:t>에 입력한 </a:t>
            </a:r>
            <a:r>
              <a:rPr lang="en-US" altLang="ko-KR" dirty="0"/>
              <a:t>password</a:t>
            </a:r>
            <a:r>
              <a:rPr lang="ko-KR" altLang="en-US" dirty="0"/>
              <a:t>가 같다면 입력한 번호에 해당하는 게시물을 삭제합니다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24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839541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함수들을 정희하고 나타난 결과입니다</a:t>
            </a:r>
            <a:r>
              <a:rPr lang="en-US" altLang="ko-KR" dirty="0"/>
              <a:t>. POST</a:t>
            </a:r>
            <a:r>
              <a:rPr lang="ko-KR" altLang="en-US" dirty="0"/>
              <a:t>를 보면 스테이지에 </a:t>
            </a:r>
            <a:r>
              <a:rPr lang="ko-KR" altLang="en-US" dirty="0" err="1"/>
              <a:t>쓰여있던</a:t>
            </a:r>
            <a:r>
              <a:rPr lang="ko-KR" altLang="en-US" dirty="0"/>
              <a:t> </a:t>
            </a:r>
            <a:r>
              <a:rPr lang="en-US" altLang="ko-KR" dirty="0" err="1"/>
              <a:t>url</a:t>
            </a:r>
            <a:r>
              <a:rPr lang="ko-KR" altLang="en-US" dirty="0"/>
              <a:t>을 </a:t>
            </a:r>
            <a:r>
              <a:rPr lang="ko-KR" altLang="en-US" dirty="0" err="1"/>
              <a:t>붙여넣고</a:t>
            </a:r>
            <a:r>
              <a:rPr lang="ko-KR" altLang="en-US" dirty="0"/>
              <a:t> </a:t>
            </a:r>
            <a:r>
              <a:rPr lang="en-US" altLang="ko-KR" dirty="0"/>
              <a:t>body</a:t>
            </a:r>
            <a:r>
              <a:rPr lang="ko-KR" altLang="en-US" dirty="0"/>
              <a:t>안에 파라미터에 맞게 글을 쓰고 동락하면 </a:t>
            </a:r>
            <a:endParaRPr lang="en-US" altLang="ko-KR" dirty="0"/>
          </a:p>
          <a:p>
            <a:r>
              <a:rPr lang="ko-KR" altLang="en-US" dirty="0"/>
              <a:t>정상응답코드가 나오고 </a:t>
            </a:r>
            <a:r>
              <a:rPr lang="ko-KR" altLang="en-US" dirty="0" err="1"/>
              <a:t>등록한글의</a:t>
            </a:r>
            <a:r>
              <a:rPr lang="ko-KR" altLang="en-US" dirty="0"/>
              <a:t> </a:t>
            </a:r>
            <a:r>
              <a:rPr lang="en-US" altLang="ko-KR" dirty="0"/>
              <a:t>id</a:t>
            </a:r>
            <a:r>
              <a:rPr lang="ko-KR" altLang="en-US" dirty="0" err="1"/>
              <a:t>를반환합니다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25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683728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</a:t>
            </a:r>
            <a:r>
              <a:rPr lang="ko-KR" altLang="en-US" dirty="0"/>
              <a:t>을 </a:t>
            </a:r>
            <a:r>
              <a:rPr lang="en-US" altLang="ko-KR" dirty="0"/>
              <a:t>Test</a:t>
            </a:r>
            <a:r>
              <a:rPr lang="ko-KR" altLang="en-US" dirty="0" err="1"/>
              <a:t>할때도</a:t>
            </a:r>
            <a:r>
              <a:rPr lang="ko-KR" altLang="en-US" dirty="0"/>
              <a:t> </a:t>
            </a:r>
            <a:r>
              <a:rPr lang="en-US" altLang="ko-KR" dirty="0" err="1"/>
              <a:t>url</a:t>
            </a:r>
            <a:r>
              <a:rPr lang="ko-KR" altLang="en-US" dirty="0"/>
              <a:t>을 넣고 </a:t>
            </a:r>
            <a:r>
              <a:rPr lang="en-US" altLang="ko-KR" dirty="0"/>
              <a:t>send</a:t>
            </a:r>
            <a:r>
              <a:rPr lang="ko-KR" altLang="en-US" dirty="0"/>
              <a:t>하면 이렇게 등록했던 </a:t>
            </a:r>
            <a:r>
              <a:rPr lang="en-US" altLang="ko-KR" dirty="0" err="1"/>
              <a:t>mongodb</a:t>
            </a:r>
            <a:r>
              <a:rPr lang="ko-KR" altLang="en-US" dirty="0"/>
              <a:t>안의 전체 글이 나옵니다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26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47607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특정 </a:t>
            </a:r>
            <a:r>
              <a:rPr lang="en-US" altLang="ko-KR" dirty="0"/>
              <a:t>id</a:t>
            </a:r>
            <a:r>
              <a:rPr lang="ko-KR" altLang="en-US" dirty="0"/>
              <a:t>를 </a:t>
            </a:r>
            <a:r>
              <a:rPr lang="ko-KR" altLang="en-US" dirty="0" err="1"/>
              <a:t>찾을때는</a:t>
            </a:r>
            <a:r>
              <a:rPr lang="ko-KR" altLang="en-US" dirty="0"/>
              <a:t> 경로에 </a:t>
            </a:r>
            <a:r>
              <a:rPr lang="en-US" altLang="ko-KR" dirty="0"/>
              <a:t>id</a:t>
            </a:r>
            <a:r>
              <a:rPr lang="ko-KR" altLang="en-US" dirty="0"/>
              <a:t>번호를 추가하면 정상응답코드가 나오고 해당 </a:t>
            </a:r>
            <a:r>
              <a:rPr lang="en-US" altLang="ko-KR" dirty="0"/>
              <a:t>id</a:t>
            </a:r>
            <a:r>
              <a:rPr lang="ko-KR" altLang="en-US" dirty="0"/>
              <a:t>의 글을 보여줍니다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27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625899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이것은 </a:t>
            </a:r>
            <a:r>
              <a:rPr lang="en-US" altLang="ko-KR" dirty="0"/>
              <a:t>MongoDB</a:t>
            </a:r>
            <a:r>
              <a:rPr lang="ko-KR" altLang="en-US" dirty="0"/>
              <a:t>안에 저장된 글을 보여주는 내용입니다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28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709543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</a:t>
            </a:r>
            <a:r>
              <a:rPr lang="ko-KR" altLang="en-US" dirty="0"/>
              <a:t>으로는 원하는 글을 수정할 수 있어 </a:t>
            </a:r>
            <a:r>
              <a:rPr lang="en-US" altLang="ko-KR" dirty="0"/>
              <a:t>header</a:t>
            </a:r>
            <a:r>
              <a:rPr lang="ko-KR" altLang="en-US" dirty="0"/>
              <a:t>안에 비밀번호를 넣어주고 해당 </a:t>
            </a:r>
            <a:r>
              <a:rPr lang="en-US" altLang="ko-KR" dirty="0"/>
              <a:t>id</a:t>
            </a:r>
            <a:r>
              <a:rPr lang="ko-KR" altLang="en-US" dirty="0"/>
              <a:t>의 글을 수정하면 정상응답코드와 함께 성공했다는 </a:t>
            </a:r>
            <a:r>
              <a:rPr lang="ko-KR" altLang="en-US" dirty="0" err="1"/>
              <a:t>메시지가나오고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29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221968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mongoDB</a:t>
            </a:r>
            <a:r>
              <a:rPr lang="ko-KR" altLang="en-US" dirty="0"/>
              <a:t>안의 해당 글이 수정되었음을 </a:t>
            </a:r>
            <a:r>
              <a:rPr lang="ko-KR" altLang="en-US" dirty="0" err="1"/>
              <a:t>알수있습니다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30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0965419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DELETE</a:t>
            </a:r>
            <a:r>
              <a:rPr lang="ko-KR" altLang="en-US" dirty="0"/>
              <a:t>는 원하는 글을 </a:t>
            </a:r>
            <a:r>
              <a:rPr lang="ko-KR" altLang="en-US" dirty="0" err="1"/>
              <a:t>삭제할수</a:t>
            </a:r>
            <a:r>
              <a:rPr lang="ko-KR" altLang="en-US" dirty="0"/>
              <a:t> 있는 기능으로 </a:t>
            </a:r>
            <a:r>
              <a:rPr lang="en-US" altLang="ko-KR" dirty="0"/>
              <a:t>PUT</a:t>
            </a:r>
            <a:r>
              <a:rPr lang="ko-KR" altLang="en-US" dirty="0"/>
              <a:t>과 마찬가지로 </a:t>
            </a:r>
            <a:r>
              <a:rPr lang="en-US" altLang="ko-KR" dirty="0"/>
              <a:t>header</a:t>
            </a:r>
            <a:r>
              <a:rPr lang="ko-KR" altLang="en-US" dirty="0"/>
              <a:t>에 비밀번호를 넣고 </a:t>
            </a:r>
            <a:r>
              <a:rPr lang="en-US" altLang="ko-KR" dirty="0" err="1"/>
              <a:t>url</a:t>
            </a:r>
            <a:r>
              <a:rPr lang="ko-KR" altLang="en-US" dirty="0"/>
              <a:t>경로에 </a:t>
            </a:r>
            <a:r>
              <a:rPr lang="en-US" altLang="ko-KR" dirty="0"/>
              <a:t>id</a:t>
            </a:r>
            <a:r>
              <a:rPr lang="ko-KR" altLang="en-US" dirty="0"/>
              <a:t>를 추가하면 정상응답코드와 성공했다는 메시지가 뜹니다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31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1933615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MongoDB</a:t>
            </a:r>
            <a:r>
              <a:rPr lang="ko-KR" altLang="en-US" dirty="0"/>
              <a:t>안에 보면 </a:t>
            </a:r>
            <a:r>
              <a:rPr lang="ko-KR" altLang="en-US" dirty="0" err="1"/>
              <a:t>해당글이</a:t>
            </a:r>
            <a:r>
              <a:rPr lang="ko-KR" altLang="en-US" dirty="0"/>
              <a:t> 삭제되었다는 것을 </a:t>
            </a:r>
            <a:r>
              <a:rPr lang="ko-KR" altLang="en-US" dirty="0" err="1"/>
              <a:t>알수있습니다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32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366732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이렇게 </a:t>
            </a:r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</a:t>
            </a:r>
            <a:r>
              <a:rPr lang="ko-KR" altLang="en-US" dirty="0"/>
              <a:t>를 이용하여 메소드를 사용하는 실습을 해보았습니다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33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80168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110C23-669B-4262-AE10-D567246FC0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895790B-8D9E-4E46-8231-169495C820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C9E31C-3772-4D21-BBFD-3D05B696F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F84A8C-BC08-47B2-B88C-989413279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4127A9-28AA-45E8-823D-8878676B4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9389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164CB6-2817-4DC9-A65F-40D5C27D3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68BC88-3C39-4D5C-86E9-22D735A02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9BD2E5-5C73-484B-86FC-A94511B46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F7ED24-E0DB-4C69-B3A5-8B619C0F0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4F50EF-EBF1-44EC-AC7D-860FC1AE1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08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4307EB-44E7-462E-A0D5-48FEC3C97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D594B2-0E01-4768-86E1-0AFEAB094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A28371-74E1-4F88-B9F0-8BF1981CA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C84C32-EF94-42FF-8FE1-B3AEF28E8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BB9A78-5779-4750-8083-97E13C1BD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4490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F4F88C-01C9-4FC3-93E4-8F3F30390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CB828F-385B-45CD-9428-9248E1EFAE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0C0D33-FE7D-467C-B1E4-7764C68C37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766103-63E4-4E29-87C6-CCF0127E1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BD5791-A0B5-4CBE-A4C4-B94C74EAB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5DB918-FE00-4E88-B4AC-347DD670A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905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694E05-2EA4-4C2E-9710-CB796EB9F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5C29CB-E5DA-4A43-9C0E-F044D15CA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EFF0CB-8A89-4E44-ABD2-0950D9484A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9C85F8C-0728-414B-8A3B-A043C387EC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3D0BDEF-E195-43CD-AE73-EE64590E22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E4F6D54-1AF5-4DFB-9329-87E561CEC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A001D50-8E33-46FF-AA9C-D47AABF75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D9FF518-E31E-4D63-8AAE-835F7318E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5375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6BD440-EB89-4A5A-878F-48E565F94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E4664D8-86D0-49F9-A52B-2510EC5BE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223A225-5523-4F1E-BD22-4B53795B5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520FD0-9025-4AC6-BC54-AA0145066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2085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3DB147B-5B48-48D5-830A-4895601F9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D6614AA-002F-41D3-B443-9D9FD5A71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E2360B-69AD-4962-8BBC-D2CA04776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070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806795-6B02-4A09-A781-02ADC1B03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2CEAD2-3109-432C-9B78-FCA74B7CB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AE6FC82-8894-4443-8F48-240F117543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71C32E-9CCD-4F43-AADA-A8EF11752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72AC35-DDD2-45A4-A6E8-C452491B8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6E737A-9C2F-42A8-853D-556BACDD3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509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BDB62B-DA76-459A-9797-0A1D1B461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AE48AA9-38C2-4AF6-A706-E38F4B2AC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505C49-A6D4-4C0E-9158-6DF54B2D28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3F96FC8-FDEB-49D3-A8B9-CA98704B1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3211BA-925D-40E9-9EBB-09CCBF9BB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4CFE6F-937D-405A-A089-13E601ECA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9961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F6B286-DAD8-4E50-BC04-A4DAC6A5A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F04228-82F2-4C8C-AB5E-91AF99F647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3AC888-C629-448C-B286-82A432806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C01A02-8B06-42AC-BAF8-61DAB7553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5628C2-0395-4EC5-895D-4A79ED6A4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615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24B80D8-29AD-42FD-920B-A40393FD49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BCC33C8-102E-4EC6-B15A-4D351F9137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D3C67E-D7F9-4303-8FFB-81C73AC8F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64152E-D2C8-4606-9752-A4A59A903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378B2D-ACC6-4C45-9E4A-429FF09F2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559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9949584" y="6439048"/>
            <a:ext cx="1955980" cy="228600"/>
          </a:xfrm>
        </p:spPr>
        <p:txBody>
          <a:bodyPr/>
          <a:lstStyle>
            <a:lvl1pPr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337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EAD33F0-607D-48C5-9056-67E9A3052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96AC83-469E-4F11-A8BF-6CB495F71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466B96-15D3-4E46-83E9-D8B0E9F272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AF83C2-04C5-4DE0-B630-EE88FC77DF3B}" type="datetimeFigureOut">
              <a:rPr lang="ko-KR" altLang="en-US" smtClean="0"/>
              <a:t>2020-07-16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BECDFB-D5B3-4FDE-922F-E652BD9442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9C4263-FFB2-4588-9EE8-44A7158A5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6018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FB4E9E6-F133-6C4A-A824-C4C4C84EAC08}"/>
              </a:ext>
            </a:extLst>
          </p:cNvPr>
          <p:cNvSpPr/>
          <p:nvPr/>
        </p:nvSpPr>
        <p:spPr>
          <a:xfrm>
            <a:off x="-11575" y="2797980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C584ACA-BF48-4D47-85CD-02B6BC488F1B}"/>
              </a:ext>
            </a:extLst>
          </p:cNvPr>
          <p:cNvSpPr txBox="1"/>
          <p:nvPr/>
        </p:nvSpPr>
        <p:spPr>
          <a:xfrm>
            <a:off x="1982779" y="507951"/>
            <a:ext cx="8226442" cy="12919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3600" b="1" dirty="0">
                <a:solidFill>
                  <a:srgbClr val="C0504D">
                    <a:lumMod val="75000"/>
                  </a:srgbClr>
                </a:solidFill>
                <a:latin typeface="+mj-ea"/>
                <a:ea typeface="+mj-ea"/>
                <a:cs typeface="Times New Roman" panose="02020603050405020304" pitchFamily="18" charset="0"/>
              </a:rPr>
              <a:t>Test REST API</a:t>
            </a:r>
          </a:p>
          <a:p>
            <a:pPr algn="ctr" defTabSz="457200" latinLnBrk="0"/>
            <a:r>
              <a:rPr lang="en-US" altLang="ko-KR" sz="2400" b="1" dirty="0">
                <a:latin typeface="+mj-ea"/>
                <a:ea typeface="+mj-ea"/>
                <a:cs typeface="Times New Roman" panose="02020603050405020304" pitchFamily="18" charset="0"/>
              </a:rPr>
              <a:t>(7.17.2020</a:t>
            </a:r>
            <a:r>
              <a:rPr lang="ko-KR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ko-KR" sz="2400" b="1" dirty="0">
                <a:latin typeface="+mj-ea"/>
                <a:ea typeface="+mj-ea"/>
                <a:cs typeface="Times New Roman" panose="02020603050405020304" pitchFamily="18" charset="0"/>
              </a:rPr>
              <a:t>/</a:t>
            </a:r>
            <a:r>
              <a:rPr lang="ko-KR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ko-KR" sz="2400" b="1" dirty="0">
                <a:latin typeface="+mj-ea"/>
                <a:ea typeface="+mj-ea"/>
                <a:cs typeface="Times New Roman" panose="02020603050405020304" pitchFamily="18" charset="0"/>
              </a:rPr>
              <a:t>DCLAB Seminar)</a:t>
            </a:r>
          </a:p>
          <a:p>
            <a:pPr algn="ctr" defTabSz="457200" latinLnBrk="0"/>
            <a:r>
              <a:rPr lang="ko-KR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오지영</a:t>
            </a:r>
            <a:endParaRPr lang="en-US" altLang="ko-KR" sz="2400" b="1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39" name="Picture 1">
            <a:extLst>
              <a:ext uri="{FF2B5EF4-FFF2-40B4-BE49-F238E27FC236}">
                <a16:creationId xmlns:a16="http://schemas.microsoft.com/office/drawing/2014/main" id="{B3D0E673-E21E-C84D-9059-39CF93945CD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2000"/>
          </a:blip>
          <a:srcRect t="41751" b="11146"/>
          <a:stretch/>
        </p:blipFill>
        <p:spPr>
          <a:xfrm>
            <a:off x="0" y="2963119"/>
            <a:ext cx="12192000" cy="3916350"/>
          </a:xfrm>
          <a:prstGeom prst="rect">
            <a:avLst/>
          </a:prstGeom>
          <a:ln>
            <a:noFill/>
          </a:ln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31B32FC9-77DA-DC4F-8E98-91F3796153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6561" y="2251474"/>
            <a:ext cx="1515727" cy="42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794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0.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Contents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35DED6E-BB33-1E4C-ABAE-5B7F438FD0E7}"/>
              </a:ext>
            </a:extLst>
          </p:cNvPr>
          <p:cNvSpPr txBox="1"/>
          <p:nvPr/>
        </p:nvSpPr>
        <p:spPr>
          <a:xfrm>
            <a:off x="881596" y="1349970"/>
            <a:ext cx="4025846" cy="3077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ko-KR" b="1" dirty="0">
                <a:latin typeface="+mj-ea"/>
                <a:ea typeface="+mj-ea"/>
              </a:rPr>
              <a:t> AWS</a:t>
            </a:r>
          </a:p>
          <a:p>
            <a:r>
              <a:rPr lang="en-US" altLang="ko-KR" b="1" dirty="0">
                <a:latin typeface="+mj-ea"/>
                <a:ea typeface="+mj-ea"/>
              </a:rPr>
              <a:t>	1.1	AWS</a:t>
            </a:r>
            <a:r>
              <a:rPr lang="ko-KR" altLang="en-US" b="1" dirty="0">
                <a:latin typeface="+mj-ea"/>
                <a:ea typeface="+mj-ea"/>
              </a:rPr>
              <a:t> 소개</a:t>
            </a:r>
            <a:r>
              <a:rPr lang="en-US" altLang="ko-KR" b="1" dirty="0">
                <a:latin typeface="+mj-ea"/>
                <a:ea typeface="+mj-ea"/>
              </a:rPr>
              <a:t> </a:t>
            </a:r>
          </a:p>
          <a:p>
            <a:r>
              <a:rPr lang="en-US" altLang="ko-KR" b="1" dirty="0">
                <a:latin typeface="+mj-ea"/>
                <a:ea typeface="+mj-ea"/>
              </a:rPr>
              <a:t>	1.2 	AWS Lambda</a:t>
            </a:r>
          </a:p>
          <a:p>
            <a:r>
              <a:rPr lang="en-US" altLang="ko-KR" b="1" dirty="0">
                <a:latin typeface="+mj-ea"/>
                <a:ea typeface="+mj-ea"/>
              </a:rPr>
              <a:t>	1.3 	AWS API Gateway</a:t>
            </a:r>
          </a:p>
          <a:p>
            <a:endParaRPr lang="en-US" altLang="ko-KR" b="1" dirty="0">
              <a:latin typeface="+mj-ea"/>
              <a:ea typeface="+mj-ea"/>
            </a:endParaRPr>
          </a:p>
          <a:p>
            <a:endParaRPr lang="en-US" altLang="ko-KR" b="1" dirty="0">
              <a:latin typeface="+mj-ea"/>
              <a:ea typeface="+mj-ea"/>
            </a:endParaRPr>
          </a:p>
          <a:p>
            <a:r>
              <a:rPr lang="en-US" altLang="ko-KR" b="1" dirty="0">
                <a:latin typeface="+mj-ea"/>
                <a:ea typeface="+mj-ea"/>
              </a:rPr>
              <a:t>2.     Test Rest API</a:t>
            </a:r>
          </a:p>
          <a:p>
            <a:r>
              <a:rPr lang="en-US" altLang="ko-KR" b="1" dirty="0">
                <a:latin typeface="+mj-ea"/>
                <a:ea typeface="+mj-ea"/>
              </a:rPr>
              <a:t>	2.1 	</a:t>
            </a:r>
            <a:r>
              <a:rPr lang="ko-KR" altLang="en-US" b="1" dirty="0">
                <a:latin typeface="+mj-ea"/>
                <a:ea typeface="+mj-ea"/>
              </a:rPr>
              <a:t>도구</a:t>
            </a:r>
            <a:endParaRPr lang="en-US" altLang="ko-KR" b="1" dirty="0">
              <a:latin typeface="+mj-ea"/>
              <a:ea typeface="+mj-ea"/>
            </a:endParaRPr>
          </a:p>
          <a:p>
            <a:r>
              <a:rPr lang="en-US" altLang="ko-KR" b="1" dirty="0">
                <a:latin typeface="+mj-ea"/>
                <a:ea typeface="+mj-ea"/>
              </a:rPr>
              <a:t>	2.2 	Rest API </a:t>
            </a:r>
            <a:r>
              <a:rPr lang="ko-KR" altLang="en-US" b="1" dirty="0">
                <a:latin typeface="+mj-ea"/>
                <a:ea typeface="+mj-ea"/>
              </a:rPr>
              <a:t>실습</a:t>
            </a:r>
            <a:endParaRPr lang="en-US" altLang="ko-KR" sz="3200" b="1" dirty="0">
              <a:latin typeface="+mj-ea"/>
              <a:ea typeface="+mj-ea"/>
            </a:endParaRPr>
          </a:p>
          <a:p>
            <a:pPr lvl="1"/>
            <a:endParaRPr lang="en-US" sz="32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974656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AWS API GATEWAY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AWS</a:t>
            </a:r>
            <a:r>
              <a:rPr lang="ko-KR" altLang="en-US" sz="2400" b="1" dirty="0"/>
              <a:t>란</a:t>
            </a:r>
            <a:r>
              <a:rPr lang="en-US" altLang="ko-KR" sz="2400" b="1" dirty="0"/>
              <a:t>?</a:t>
            </a:r>
          </a:p>
          <a:p>
            <a:endParaRPr lang="en-US" altLang="ko-KR" dirty="0"/>
          </a:p>
          <a:p>
            <a:r>
              <a:rPr lang="ko-KR" altLang="en-US" dirty="0">
                <a:solidFill>
                  <a:srgbClr val="FF0000"/>
                </a:solidFill>
              </a:rPr>
              <a:t>아마존에서 제공하는 클라우드 서비스로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네트워킹을 기반으로 가상 컴퓨터와 스토리지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네트워크 인프라 등 다양한 서비스를 제공함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비즈니스와 개발자가 웹서비스를 사용하여 확장 가능하고 정교한 애플리케이션 구축하도록 지원함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AWS </a:t>
            </a:r>
            <a:r>
              <a:rPr lang="ko-KR" altLang="en-US" b="1" dirty="0"/>
              <a:t>장점</a:t>
            </a:r>
            <a:endParaRPr lang="en-US" altLang="ko-KR" b="1" dirty="0"/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저렴한 비용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〮 </a:t>
            </a:r>
            <a:r>
              <a:rPr lang="en-US" altLang="ko-KR" dirty="0"/>
              <a:t>AWS</a:t>
            </a:r>
            <a:r>
              <a:rPr lang="ko-KR" altLang="en-US" dirty="0"/>
              <a:t>는 사전 확약금이나 장기 약정없이 저렴한 </a:t>
            </a:r>
            <a:r>
              <a:rPr lang="ko-KR" altLang="en-US" dirty="0" err="1"/>
              <a:t>종량</a:t>
            </a:r>
            <a:r>
              <a:rPr lang="ko-KR" altLang="en-US" dirty="0"/>
              <a:t> </a:t>
            </a:r>
            <a:r>
              <a:rPr lang="ko-KR" altLang="en-US" dirty="0" err="1"/>
              <a:t>과금제</a:t>
            </a:r>
            <a:r>
              <a:rPr lang="ko-KR" altLang="en-US" dirty="0"/>
              <a:t> 방식으로 운영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2.  </a:t>
            </a:r>
            <a:r>
              <a:rPr lang="ko-KR" altLang="en-US" dirty="0"/>
              <a:t>속도 및 민첩성 개선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〮</a:t>
            </a:r>
            <a:r>
              <a:rPr lang="en-US" altLang="ko-KR" dirty="0"/>
              <a:t> </a:t>
            </a:r>
            <a:r>
              <a:rPr lang="ko-KR" altLang="en-US" dirty="0"/>
              <a:t>데이터운영 및 유지관리에 비용투자 불필요</a:t>
            </a:r>
            <a:r>
              <a:rPr lang="en-US" altLang="ko-KR" dirty="0"/>
              <a:t>, </a:t>
            </a:r>
            <a:r>
              <a:rPr lang="ko-KR" altLang="en-US" dirty="0" err="1"/>
              <a:t>몇분만에</a:t>
            </a:r>
            <a:r>
              <a:rPr lang="ko-KR" altLang="en-US" dirty="0"/>
              <a:t> 전세계에 배포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3.  </a:t>
            </a:r>
            <a:r>
              <a:rPr lang="ko-KR" altLang="en-US" dirty="0"/>
              <a:t>다양한 플랫폼 서비스 제공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28269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AWS API GATEWAY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AWS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Lambda</a:t>
            </a:r>
            <a:r>
              <a:rPr lang="ko-KR" altLang="en-US" sz="2400" b="1" dirty="0"/>
              <a:t>란</a:t>
            </a:r>
            <a:r>
              <a:rPr lang="en-US" altLang="ko-KR" sz="2400" b="1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1.  AWS Lambda</a:t>
            </a:r>
            <a:r>
              <a:rPr lang="ko-KR" altLang="en-US" dirty="0"/>
              <a:t>는 </a:t>
            </a:r>
            <a:r>
              <a:rPr lang="ko-KR" altLang="en-US" dirty="0">
                <a:solidFill>
                  <a:srgbClr val="FF0000"/>
                </a:solidFill>
              </a:rPr>
              <a:t>서버를 </a:t>
            </a:r>
            <a:r>
              <a:rPr lang="ko-KR" altLang="en-US" dirty="0" err="1">
                <a:solidFill>
                  <a:srgbClr val="FF0000"/>
                </a:solidFill>
              </a:rPr>
              <a:t>프로비저닝하거나</a:t>
            </a:r>
            <a:r>
              <a:rPr lang="ko-KR" altLang="en-US" dirty="0">
                <a:solidFill>
                  <a:srgbClr val="FF0000"/>
                </a:solidFill>
              </a:rPr>
              <a:t> 관리하지 않고도 코드를 실행할 수 있게 해주는 컴퓨팅 서비스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2.  </a:t>
            </a:r>
            <a:r>
              <a:rPr lang="ko-KR" altLang="en-US" dirty="0"/>
              <a:t>사실상 모든 유형의 애플리케이션이나 </a:t>
            </a:r>
            <a:r>
              <a:rPr lang="ko-KR" altLang="en-US" dirty="0" err="1"/>
              <a:t>백엔드</a:t>
            </a:r>
            <a:r>
              <a:rPr lang="ko-KR" altLang="en-US" dirty="0"/>
              <a:t> 서비스에 대한 코드를 별도의 관리 없이 실행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342900" indent="-342900">
              <a:buAutoNum type="arabicPeriod" startAt="3"/>
            </a:pPr>
            <a:r>
              <a:rPr lang="en-US" altLang="ko-KR" dirty="0">
                <a:solidFill>
                  <a:srgbClr val="FF0000"/>
                </a:solidFill>
              </a:rPr>
              <a:t>AWS API Gateway</a:t>
            </a:r>
            <a:r>
              <a:rPr lang="ko-KR" altLang="en-US" dirty="0">
                <a:solidFill>
                  <a:srgbClr val="FF0000"/>
                </a:solidFill>
              </a:rPr>
              <a:t>를 사용하여 </a:t>
            </a:r>
            <a:r>
              <a:rPr lang="en-US" altLang="ko-KR" dirty="0">
                <a:solidFill>
                  <a:srgbClr val="FF0000"/>
                </a:solidFill>
              </a:rPr>
              <a:t>HTTP</a:t>
            </a:r>
            <a:r>
              <a:rPr lang="ko-KR" altLang="en-US" dirty="0">
                <a:solidFill>
                  <a:srgbClr val="FF0000"/>
                </a:solidFill>
              </a:rPr>
              <a:t>요청에 대한 응답으로 코드를 실행할 </a:t>
            </a:r>
            <a:r>
              <a:rPr lang="ko-KR" altLang="en-US" dirty="0"/>
              <a:t>수도 있으며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    </a:t>
            </a:r>
            <a:r>
              <a:rPr lang="ko-KR" altLang="en-US" dirty="0"/>
              <a:t>또는 </a:t>
            </a:r>
            <a:r>
              <a:rPr lang="en-US" altLang="ko-KR" dirty="0"/>
              <a:t>AWS SDK</a:t>
            </a:r>
            <a:r>
              <a:rPr lang="ko-KR" altLang="en-US" dirty="0"/>
              <a:t>를 사용하여 만든 </a:t>
            </a:r>
            <a:r>
              <a:rPr lang="en-US" altLang="ko-KR" dirty="0"/>
              <a:t>API </a:t>
            </a:r>
            <a:r>
              <a:rPr lang="ko-KR" altLang="en-US" dirty="0"/>
              <a:t>호출을 통해 코드를 호출할 수 있음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4.  AWS </a:t>
            </a:r>
            <a:r>
              <a:rPr lang="ko-KR" altLang="en-US" dirty="0"/>
              <a:t>서비스에 대한 데이터 처리 트리거를 손쉽게 빌드하거나</a:t>
            </a:r>
            <a:r>
              <a:rPr lang="en-US" altLang="ko-KR" dirty="0"/>
              <a:t>, Kinesis</a:t>
            </a:r>
            <a:r>
              <a:rPr lang="ko-KR" altLang="en-US" dirty="0"/>
              <a:t>에 저장된 스트리밍 데이터를 처리 </a:t>
            </a:r>
            <a:endParaRPr lang="en-US" altLang="ko-KR" dirty="0"/>
          </a:p>
          <a:p>
            <a:r>
              <a:rPr lang="en-US" altLang="ko-KR" dirty="0"/>
              <a:t>    </a:t>
            </a:r>
            <a:r>
              <a:rPr lang="ko-KR" altLang="en-US" dirty="0"/>
              <a:t>하거나 </a:t>
            </a:r>
            <a:r>
              <a:rPr lang="en-US" altLang="ko-KR" dirty="0"/>
              <a:t>AWS </a:t>
            </a:r>
            <a:r>
              <a:rPr lang="ko-KR" altLang="en-US" dirty="0"/>
              <a:t>규모</a:t>
            </a:r>
            <a:r>
              <a:rPr lang="en-US" altLang="ko-KR" dirty="0"/>
              <a:t>,</a:t>
            </a:r>
            <a:r>
              <a:rPr lang="ko-KR" altLang="en-US" dirty="0"/>
              <a:t>성능</a:t>
            </a:r>
            <a:r>
              <a:rPr lang="en-US" altLang="ko-KR" dirty="0"/>
              <a:t>,</a:t>
            </a:r>
            <a:r>
              <a:rPr lang="ko-KR" altLang="en-US" dirty="0"/>
              <a:t>보안에 따라 작동하는 자체 </a:t>
            </a:r>
            <a:r>
              <a:rPr lang="ko-KR" altLang="en-US" dirty="0" err="1"/>
              <a:t>백엔드를</a:t>
            </a:r>
            <a:r>
              <a:rPr lang="ko-KR" altLang="en-US" dirty="0"/>
              <a:t> 생성할 수 있음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〮 </a:t>
            </a:r>
            <a:r>
              <a:rPr lang="en-US" altLang="ko-KR" sz="1600" dirty="0"/>
              <a:t>Amazon Kinesis: </a:t>
            </a:r>
            <a:r>
              <a:rPr lang="ko-KR" altLang="en-US" sz="1600" dirty="0"/>
              <a:t>실시간 스트리밍 데이터를 손쉽게 수집</a:t>
            </a:r>
            <a:r>
              <a:rPr lang="en-US" altLang="ko-KR" sz="1600" dirty="0"/>
              <a:t>,</a:t>
            </a:r>
            <a:r>
              <a:rPr lang="ko-KR" altLang="en-US" sz="1600" dirty="0"/>
              <a:t>처리 및 분석하여 통찰력을 확보하고 </a:t>
            </a:r>
            <a:endParaRPr lang="en-US" altLang="ko-KR" sz="1600" dirty="0"/>
          </a:p>
          <a:p>
            <a:r>
              <a:rPr lang="en-US" altLang="ko-KR" sz="1600" dirty="0"/>
              <a:t>		           </a:t>
            </a:r>
            <a:r>
              <a:rPr lang="ko-KR" altLang="en-US" sz="1600" dirty="0"/>
              <a:t>새로운 정보에 신속하게 대응 가능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963566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AWS API GATEWAY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AWS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API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Gateway</a:t>
            </a:r>
            <a:r>
              <a:rPr lang="ko-KR" altLang="en-US" sz="2400" b="1" dirty="0"/>
              <a:t>란</a:t>
            </a:r>
            <a:r>
              <a:rPr lang="en-US" altLang="ko-KR" sz="2400" b="1" dirty="0"/>
              <a:t>?</a:t>
            </a:r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어떤 </a:t>
            </a:r>
            <a:r>
              <a:rPr lang="ko-KR" altLang="en-US" dirty="0" err="1"/>
              <a:t>규모에서든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개발자가 </a:t>
            </a:r>
            <a:r>
              <a:rPr lang="en-US" altLang="ko-KR" dirty="0">
                <a:solidFill>
                  <a:srgbClr val="FF0000"/>
                </a:solidFill>
              </a:rPr>
              <a:t>API</a:t>
            </a:r>
            <a:r>
              <a:rPr lang="ko-KR" altLang="en-US" dirty="0">
                <a:solidFill>
                  <a:srgbClr val="FF0000"/>
                </a:solidFill>
              </a:rPr>
              <a:t>를 손쉽게 생성</a:t>
            </a:r>
            <a:r>
              <a:rPr lang="en-US" altLang="ko-KR" dirty="0">
                <a:solidFill>
                  <a:srgbClr val="FF0000"/>
                </a:solidFill>
              </a:rPr>
              <a:t>,</a:t>
            </a:r>
            <a:r>
              <a:rPr lang="ko-KR" altLang="en-US" dirty="0">
                <a:solidFill>
                  <a:srgbClr val="FF0000"/>
                </a:solidFill>
              </a:rPr>
              <a:t>게시</a:t>
            </a:r>
            <a:r>
              <a:rPr lang="en-US" altLang="ko-KR" dirty="0">
                <a:solidFill>
                  <a:srgbClr val="FF0000"/>
                </a:solidFill>
              </a:rPr>
              <a:t>,</a:t>
            </a:r>
            <a:r>
              <a:rPr lang="ko-KR" altLang="en-US" dirty="0">
                <a:solidFill>
                  <a:srgbClr val="FF0000"/>
                </a:solidFill>
              </a:rPr>
              <a:t>유지</a:t>
            </a:r>
            <a:r>
              <a:rPr lang="en-US" altLang="ko-KR" dirty="0">
                <a:solidFill>
                  <a:srgbClr val="FF0000"/>
                </a:solidFill>
              </a:rPr>
              <a:t>,</a:t>
            </a:r>
            <a:r>
              <a:rPr lang="ko-KR" altLang="en-US" dirty="0">
                <a:solidFill>
                  <a:srgbClr val="FF0000"/>
                </a:solidFill>
              </a:rPr>
              <a:t>관리</a:t>
            </a:r>
            <a:r>
              <a:rPr lang="en-US" altLang="ko-KR" dirty="0">
                <a:solidFill>
                  <a:srgbClr val="FF0000"/>
                </a:solidFill>
              </a:rPr>
              <a:t>,</a:t>
            </a:r>
            <a:r>
              <a:rPr lang="ko-KR" altLang="en-US" dirty="0">
                <a:solidFill>
                  <a:srgbClr val="FF0000"/>
                </a:solidFill>
              </a:rPr>
              <a:t>모니터링 및 보안 유지할 수 있도록 하는 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     </a:t>
            </a:r>
            <a:r>
              <a:rPr lang="ko-KR" altLang="en-US" dirty="0">
                <a:solidFill>
                  <a:srgbClr val="FF0000"/>
                </a:solidFill>
              </a:rPr>
              <a:t>완전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ko-KR" altLang="en-US" dirty="0">
                <a:solidFill>
                  <a:srgbClr val="FF0000"/>
                </a:solidFill>
              </a:rPr>
              <a:t>관리형 서비스</a:t>
            </a:r>
            <a:endParaRPr lang="en-US" altLang="ko-KR" dirty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endParaRPr lang="en-US" altLang="ko-KR" dirty="0"/>
          </a:p>
          <a:p>
            <a:r>
              <a:rPr lang="en-US" altLang="ko-KR" dirty="0"/>
              <a:t>2.  </a:t>
            </a:r>
            <a:r>
              <a:rPr lang="ko-KR" altLang="en-US" dirty="0"/>
              <a:t>실시간 양방향 통신 애플리케이션이 가능하도록 하는 </a:t>
            </a:r>
            <a:r>
              <a:rPr lang="en-US" altLang="ko-KR" dirty="0"/>
              <a:t>RESTful API </a:t>
            </a:r>
            <a:r>
              <a:rPr lang="ko-KR" altLang="en-US" dirty="0"/>
              <a:t>및 </a:t>
            </a:r>
            <a:r>
              <a:rPr lang="en-US" altLang="ko-KR" dirty="0"/>
              <a:t>WebSocket API</a:t>
            </a:r>
            <a:r>
              <a:rPr lang="ko-KR" altLang="en-US" dirty="0"/>
              <a:t>를 작성 가능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sz="1600" dirty="0"/>
              <a:t>〮 </a:t>
            </a:r>
            <a:r>
              <a:rPr lang="en-US" altLang="ko-KR" sz="1600" dirty="0">
                <a:solidFill>
                  <a:srgbClr val="FF0000"/>
                </a:solidFill>
              </a:rPr>
              <a:t>API</a:t>
            </a:r>
            <a:r>
              <a:rPr lang="ko-KR" altLang="en-US" sz="1600" dirty="0">
                <a:solidFill>
                  <a:srgbClr val="FF0000"/>
                </a:solidFill>
              </a:rPr>
              <a:t>가 </a:t>
            </a:r>
            <a:r>
              <a:rPr lang="en-US" altLang="ko-KR" sz="1600" dirty="0">
                <a:solidFill>
                  <a:srgbClr val="FF0000"/>
                </a:solidFill>
              </a:rPr>
              <a:t>API</a:t>
            </a:r>
            <a:r>
              <a:rPr lang="ko-KR" altLang="en-US" sz="1600" dirty="0">
                <a:solidFill>
                  <a:srgbClr val="FF0000"/>
                </a:solidFill>
              </a:rPr>
              <a:t>프록시 기능과 </a:t>
            </a:r>
            <a:r>
              <a:rPr lang="en-US" altLang="ko-KR" sz="1600" dirty="0">
                <a:solidFill>
                  <a:srgbClr val="FF0000"/>
                </a:solidFill>
              </a:rPr>
              <a:t>API </a:t>
            </a:r>
            <a:r>
              <a:rPr lang="ko-KR" altLang="en-US" sz="1600" dirty="0">
                <a:solidFill>
                  <a:srgbClr val="FF0000"/>
                </a:solidFill>
              </a:rPr>
              <a:t>관리 기능을 요구하는 경우</a:t>
            </a:r>
            <a:r>
              <a:rPr lang="en-US" altLang="ko-KR" sz="1600" dirty="0">
                <a:solidFill>
                  <a:srgbClr val="FF0000"/>
                </a:solidFill>
              </a:rPr>
              <a:t>, API Gateway</a:t>
            </a:r>
            <a:r>
              <a:rPr lang="ko-KR" altLang="en-US" sz="1600" dirty="0">
                <a:solidFill>
                  <a:srgbClr val="FF0000"/>
                </a:solidFill>
              </a:rPr>
              <a:t>는 </a:t>
            </a:r>
            <a:r>
              <a:rPr lang="en-US" altLang="ko-KR" sz="1600" dirty="0">
                <a:solidFill>
                  <a:srgbClr val="FF0000"/>
                </a:solidFill>
              </a:rPr>
              <a:t>REST API </a:t>
            </a:r>
            <a:r>
              <a:rPr lang="ko-KR" altLang="en-US" sz="1600" dirty="0">
                <a:solidFill>
                  <a:srgbClr val="FF0000"/>
                </a:solidFill>
              </a:rPr>
              <a:t>제공</a:t>
            </a:r>
            <a:endParaRPr lang="en-US" altLang="ko-KR" sz="1600" dirty="0">
              <a:solidFill>
                <a:srgbClr val="FF0000"/>
              </a:solidFill>
            </a:endParaRPr>
          </a:p>
          <a:p>
            <a:r>
              <a:rPr lang="en-US" altLang="ko-KR" sz="1600" dirty="0"/>
              <a:t>	</a:t>
            </a:r>
            <a:r>
              <a:rPr lang="ko-KR" altLang="en-US" sz="1600" dirty="0"/>
              <a:t>〮 </a:t>
            </a:r>
            <a:r>
              <a:rPr lang="en-US" altLang="ko-KR" sz="1600" dirty="0"/>
              <a:t>WEBSOCKET API: </a:t>
            </a:r>
            <a:r>
              <a:rPr lang="ko-KR" altLang="en-US" sz="1600" dirty="0"/>
              <a:t>채팅 앱 및 스트리밍 대시보드와 같은 실시간 양방향 통신 애플리케이션 구축</a:t>
            </a: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r>
              <a:rPr lang="en-US" altLang="ko-KR" dirty="0"/>
              <a:t>3.  </a:t>
            </a:r>
            <a:r>
              <a:rPr lang="ko-KR" altLang="en-US" dirty="0"/>
              <a:t>컨테이너식 서버리스 워크로드 및 웹 애플리케이션을 지원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F646E5C-858B-4CDD-8B00-52F66E5E0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4129" y="4104287"/>
            <a:ext cx="5103896" cy="2334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575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개발도구</a:t>
            </a:r>
            <a:endParaRPr lang="en-US" altLang="ko-KR" sz="2400" b="1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〮  </a:t>
            </a:r>
            <a:r>
              <a:rPr lang="en-US" altLang="ko-KR" dirty="0"/>
              <a:t>AWS API Gateway(REST API)</a:t>
            </a:r>
          </a:p>
          <a:p>
            <a:endParaRPr lang="en-US" altLang="ko-KR" dirty="0"/>
          </a:p>
          <a:p>
            <a:r>
              <a:rPr lang="ko-KR" altLang="en-US" dirty="0"/>
              <a:t>〮  </a:t>
            </a:r>
            <a:r>
              <a:rPr lang="en-US" altLang="ko-KR" dirty="0"/>
              <a:t>AWS Lambda</a:t>
            </a:r>
          </a:p>
          <a:p>
            <a:endParaRPr lang="en-US" altLang="ko-KR" dirty="0"/>
          </a:p>
          <a:p>
            <a:r>
              <a:rPr lang="ko-KR" altLang="en-US" dirty="0"/>
              <a:t>〮  </a:t>
            </a:r>
            <a:r>
              <a:rPr lang="en-US" altLang="ko-KR" dirty="0"/>
              <a:t>Talend API Tester</a:t>
            </a:r>
          </a:p>
          <a:p>
            <a:endParaRPr lang="en-US" altLang="ko-KR" dirty="0"/>
          </a:p>
          <a:p>
            <a:r>
              <a:rPr lang="ko-KR" altLang="en-US" dirty="0"/>
              <a:t>〮  </a:t>
            </a:r>
            <a:r>
              <a:rPr lang="en-US" altLang="ko-KR" dirty="0"/>
              <a:t>Node.js Library</a:t>
            </a:r>
          </a:p>
          <a:p>
            <a:endParaRPr lang="en-US" altLang="ko-KR" dirty="0"/>
          </a:p>
          <a:p>
            <a:r>
              <a:rPr lang="ko-KR" altLang="en-US" dirty="0"/>
              <a:t>〮  </a:t>
            </a:r>
            <a:r>
              <a:rPr lang="en-US" altLang="ko-KR" dirty="0"/>
              <a:t>Mongo DB</a:t>
            </a:r>
          </a:p>
          <a:p>
            <a:r>
              <a:rPr lang="en-US" altLang="ko-KR" dirty="0"/>
              <a:t>	</a:t>
            </a:r>
            <a:r>
              <a:rPr lang="ko-KR" altLang="en-US" sz="1600" dirty="0"/>
              <a:t>〮 </a:t>
            </a:r>
            <a:r>
              <a:rPr lang="en-US" altLang="ko-KR" sz="1600" dirty="0"/>
              <a:t>NoSQL </a:t>
            </a:r>
            <a:r>
              <a:rPr lang="ko-KR" altLang="en-US" sz="1600" dirty="0"/>
              <a:t>데이터베이스로 분류되며</a:t>
            </a:r>
            <a:r>
              <a:rPr lang="en-US" altLang="ko-KR" sz="1600" dirty="0"/>
              <a:t>, </a:t>
            </a:r>
            <a:r>
              <a:rPr lang="ko-KR" altLang="en-US" sz="1600" dirty="0"/>
              <a:t>특정 종류의 애플리케이션을 더 쉽고 빠르게 데이터 통합</a:t>
            </a:r>
            <a:endParaRPr lang="en-US" altLang="ko-KR" sz="1600" dirty="0"/>
          </a:p>
          <a:p>
            <a:r>
              <a:rPr lang="en-US" altLang="ko-KR" sz="1600" dirty="0"/>
              <a:t>	</a:t>
            </a:r>
            <a:r>
              <a:rPr lang="ko-KR" altLang="en-US" sz="1600" dirty="0"/>
              <a:t>〮 크로스 플랫폼 도큐먼트 지향 데이터베이스 시스템</a:t>
            </a:r>
            <a:endParaRPr lang="en-US" altLang="ko-KR" sz="1600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99305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 – API</a:t>
              </a:r>
              <a:r>
                <a:rPr kumimoji="1" lang="ko-KR" altLang="en-US" sz="2800" b="1" dirty="0">
                  <a:latin typeface="+mj-ea"/>
                  <a:ea typeface="+mj-ea"/>
                </a:rPr>
                <a:t>구축</a:t>
              </a:r>
              <a:r>
                <a:rPr kumimoji="1" lang="en-US" altLang="ko-KR" sz="2800" b="1" dirty="0">
                  <a:latin typeface="+mj-ea"/>
                  <a:ea typeface="+mj-ea"/>
                </a:rPr>
                <a:t> 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REST API, Lambda</a:t>
            </a:r>
            <a:r>
              <a:rPr lang="ko-KR" altLang="en-US" sz="2400" b="1" dirty="0"/>
              <a:t>를 이용한 게시판 서버 구축</a:t>
            </a:r>
            <a:endParaRPr lang="en-US" altLang="ko-KR" sz="2400" b="1" dirty="0"/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API </a:t>
            </a:r>
            <a:r>
              <a:rPr lang="ko-KR" altLang="en-US" dirty="0"/>
              <a:t>선택</a:t>
            </a:r>
            <a:r>
              <a:rPr lang="en-US" altLang="ko-KR" dirty="0"/>
              <a:t>					2.  </a:t>
            </a:r>
            <a:r>
              <a:rPr lang="ko-KR" altLang="en-US" dirty="0"/>
              <a:t>프로토콜 선택 및 </a:t>
            </a:r>
            <a:r>
              <a:rPr lang="en-US" altLang="ko-KR" dirty="0"/>
              <a:t>API</a:t>
            </a:r>
            <a:r>
              <a:rPr lang="ko-KR" altLang="en-US" dirty="0"/>
              <a:t>생성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E7A8501-151C-4ABF-8AFF-1EC2E2DD95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155" y="2141043"/>
            <a:ext cx="4221906" cy="313580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05E8D11-F4F7-42A6-8531-898506FD0E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8929" y="2160236"/>
            <a:ext cx="5272103" cy="311661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AF41906E-D3CD-47BE-8AAE-627EEDECE709}"/>
              </a:ext>
            </a:extLst>
          </p:cNvPr>
          <p:cNvSpPr/>
          <p:nvPr/>
        </p:nvSpPr>
        <p:spPr>
          <a:xfrm>
            <a:off x="1781175" y="2752725"/>
            <a:ext cx="352425" cy="1608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194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리소스 생성 및 </a:t>
            </a:r>
            <a:r>
              <a:rPr lang="en-US" altLang="ko-KR" dirty="0"/>
              <a:t>Method </a:t>
            </a:r>
            <a:r>
              <a:rPr lang="ko-KR" altLang="en-US" dirty="0"/>
              <a:t>생성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43A2BD3-3765-4D07-B41E-27E31D8AD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312" y="1702995"/>
            <a:ext cx="5699760" cy="323001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4848407-8A47-431B-807D-8BCC4D5BFB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968" y="1702995"/>
            <a:ext cx="5546310" cy="3230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452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4.  Proxy </a:t>
            </a:r>
            <a:r>
              <a:rPr lang="ko-KR" altLang="en-US" dirty="0"/>
              <a:t>리소스 생성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E333229-F246-4C97-9206-8AA9FB19FD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744"/>
          <a:stretch/>
        </p:blipFill>
        <p:spPr>
          <a:xfrm>
            <a:off x="818880" y="1684413"/>
            <a:ext cx="9782445" cy="3874960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B85C7D5E-76C4-48F8-B1AB-A290F68D51D1}"/>
              </a:ext>
            </a:extLst>
          </p:cNvPr>
          <p:cNvSpPr/>
          <p:nvPr/>
        </p:nvSpPr>
        <p:spPr>
          <a:xfrm>
            <a:off x="2954346" y="3138503"/>
            <a:ext cx="760404" cy="3571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1933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5. API </a:t>
            </a:r>
            <a:r>
              <a:rPr lang="ko-KR" altLang="en-US" dirty="0"/>
              <a:t>배포 </a:t>
            </a:r>
            <a:r>
              <a:rPr lang="en-US" altLang="ko-KR" dirty="0"/>
              <a:t>-&gt; </a:t>
            </a:r>
            <a:r>
              <a:rPr lang="ko-KR" altLang="en-US" dirty="0"/>
              <a:t>스테이지 추가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4F7BA27-717E-4ED0-96CF-E03ECF530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45" y="1546891"/>
            <a:ext cx="5328878" cy="395932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C0195C8-1F6E-45F8-AF0A-9CF0BB3813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658" y="1512142"/>
            <a:ext cx="5551149" cy="3963355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73A58614-BCB8-42E0-A38E-CAC725F58535}"/>
              </a:ext>
            </a:extLst>
          </p:cNvPr>
          <p:cNvSpPr/>
          <p:nvPr/>
        </p:nvSpPr>
        <p:spPr>
          <a:xfrm>
            <a:off x="2239971" y="2989916"/>
            <a:ext cx="303204" cy="16285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957B8A4-6BD8-4034-809E-4EF066ADC6DA}"/>
              </a:ext>
            </a:extLst>
          </p:cNvPr>
          <p:cNvSpPr/>
          <p:nvPr/>
        </p:nvSpPr>
        <p:spPr>
          <a:xfrm>
            <a:off x="8755354" y="2068011"/>
            <a:ext cx="2522246" cy="2084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5433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487904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 – MONGODB </a:t>
              </a:r>
              <a:r>
                <a:rPr kumimoji="1" lang="ko-KR" altLang="en-US" sz="2800" b="1" dirty="0">
                  <a:latin typeface="+mj-ea"/>
                  <a:ea typeface="+mj-ea"/>
                </a:rPr>
                <a:t>연결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Mongo</a:t>
            </a:r>
            <a:r>
              <a:rPr lang="ko-KR" altLang="en-US" dirty="0"/>
              <a:t> </a:t>
            </a:r>
            <a:r>
              <a:rPr lang="en-US" altLang="ko-KR" dirty="0"/>
              <a:t>DB </a:t>
            </a:r>
            <a:r>
              <a:rPr lang="ko-KR" altLang="en-US" dirty="0"/>
              <a:t>연결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C962EB-8243-45F0-AE3A-91EB80A53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199" y="1588195"/>
            <a:ext cx="5966525" cy="411728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892DDB8-48A6-43B6-B7CB-8CADCEE49C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7254" y="1408196"/>
            <a:ext cx="5335671" cy="4405505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8829A201-1957-4662-9252-4C9DB9FD4E51}"/>
              </a:ext>
            </a:extLst>
          </p:cNvPr>
          <p:cNvSpPr/>
          <p:nvPr/>
        </p:nvSpPr>
        <p:spPr>
          <a:xfrm>
            <a:off x="1830395" y="3904729"/>
            <a:ext cx="350829" cy="1814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EDB2459-8BED-4B9E-81B0-BF6FA09788C4}"/>
              </a:ext>
            </a:extLst>
          </p:cNvPr>
          <p:cNvSpPr/>
          <p:nvPr/>
        </p:nvSpPr>
        <p:spPr>
          <a:xfrm>
            <a:off x="6900095" y="3986159"/>
            <a:ext cx="4875971" cy="5763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7237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668191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 Mongo</a:t>
            </a:r>
            <a:r>
              <a:rPr lang="ko-KR" altLang="en-US" dirty="0"/>
              <a:t> </a:t>
            </a:r>
            <a:r>
              <a:rPr lang="en-US" altLang="ko-KR" dirty="0"/>
              <a:t>DB </a:t>
            </a:r>
            <a:r>
              <a:rPr lang="ko-KR" altLang="en-US" dirty="0"/>
              <a:t>접속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6E59FCF-7F4B-455B-8868-EDB1A6C64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353" y="1559926"/>
            <a:ext cx="5158112" cy="4136024"/>
          </a:xfrm>
          <a:prstGeom prst="rect">
            <a:avLst/>
          </a:prstGeom>
        </p:spPr>
      </p:pic>
      <p:pic>
        <p:nvPicPr>
          <p:cNvPr id="1026" name="Picture 2" descr="https://blog.kakaocdn.net/dn/Sd6A6/btqvbOxpVjH/TQis5TBmkOmwhs5XRPmMLK/img.png">
            <a:extLst>
              <a:ext uri="{FF2B5EF4-FFF2-40B4-BE49-F238E27FC236}">
                <a16:creationId xmlns:a16="http://schemas.microsoft.com/office/drawing/2014/main" id="{FE99A133-8440-4E5A-A80F-058D68A0F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425" y="1559926"/>
            <a:ext cx="5290779" cy="4050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19546705-84F7-4406-9852-EC0DDDF84A44}"/>
              </a:ext>
            </a:extLst>
          </p:cNvPr>
          <p:cNvSpPr/>
          <p:nvPr/>
        </p:nvSpPr>
        <p:spPr>
          <a:xfrm>
            <a:off x="939085" y="4332941"/>
            <a:ext cx="3699589" cy="3438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77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668191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3.  MongoDB</a:t>
            </a:r>
            <a:r>
              <a:rPr lang="ko-KR" altLang="en-US" dirty="0"/>
              <a:t>에서 모든 </a:t>
            </a:r>
            <a:r>
              <a:rPr lang="en-US" altLang="ko-KR" dirty="0"/>
              <a:t>IP</a:t>
            </a:r>
            <a:r>
              <a:rPr lang="ko-KR" altLang="en-US" dirty="0"/>
              <a:t>를 허용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2050" name="Picture 2" descr="https://blog.kakaocdn.net/dn/bbtN03/btqvvv3rixI/KFcTETGNFkGWPdqTEIbSq1/img.png">
            <a:extLst>
              <a:ext uri="{FF2B5EF4-FFF2-40B4-BE49-F238E27FC236}">
                <a16:creationId xmlns:a16="http://schemas.microsoft.com/office/drawing/2014/main" id="{191329E7-0E76-4084-A792-CDB886E1A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793" y="1647594"/>
            <a:ext cx="5138332" cy="4372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blog.kakaocdn.net/dn/dNxf1Y/btqvvDUtndM/NKMkwrn1OqD1cSo7iv5Y80/img.png">
            <a:extLst>
              <a:ext uri="{FF2B5EF4-FFF2-40B4-BE49-F238E27FC236}">
                <a16:creationId xmlns:a16="http://schemas.microsoft.com/office/drawing/2014/main" id="{6B19A9DB-8023-4E90-8AE1-F3C4C4A1B7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061" y="1481932"/>
            <a:ext cx="5629559" cy="4386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21118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456907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 – </a:t>
              </a:r>
              <a:r>
                <a:rPr kumimoji="1" lang="ko-KR" altLang="en-US" sz="2800" b="1" dirty="0">
                  <a:latin typeface="+mj-ea"/>
                  <a:ea typeface="+mj-ea"/>
                </a:rPr>
                <a:t>게시판 서버 구축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668191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AWS Lambda </a:t>
            </a:r>
            <a:r>
              <a:rPr lang="ko-KR" altLang="en-US" dirty="0"/>
              <a:t>함수 생성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B1504BC-2772-4927-9B65-7FC914C42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772" y="1637937"/>
            <a:ext cx="5451353" cy="358212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2F94574-0352-4948-84D6-4E536A4D1D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1743" y="1637938"/>
            <a:ext cx="5733822" cy="3582124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4E780994-5A1E-45DA-A385-9B86D23597B3}"/>
              </a:ext>
            </a:extLst>
          </p:cNvPr>
          <p:cNvSpPr/>
          <p:nvPr/>
        </p:nvSpPr>
        <p:spPr>
          <a:xfrm>
            <a:off x="5087946" y="2159278"/>
            <a:ext cx="455604" cy="1838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5802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456907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 – </a:t>
              </a:r>
              <a:r>
                <a:rPr kumimoji="1" lang="ko-KR" altLang="en-US" sz="2800" b="1" dirty="0">
                  <a:latin typeface="+mj-ea"/>
                  <a:ea typeface="+mj-ea"/>
                </a:rPr>
                <a:t>게시판 서버 구축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66819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환경변수로 </a:t>
            </a:r>
            <a:r>
              <a:rPr lang="en-US" altLang="ko-KR" dirty="0"/>
              <a:t>MONGODB URI </a:t>
            </a:r>
            <a:r>
              <a:rPr lang="ko-KR" altLang="en-US" dirty="0"/>
              <a:t>설정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34CC6F1-1AAB-430F-9D13-601F30B54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62" y="1691142"/>
            <a:ext cx="10491061" cy="2252208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B8C9E465-C80E-4741-92F2-F6D2F1A22FC0}"/>
              </a:ext>
            </a:extLst>
          </p:cNvPr>
          <p:cNvSpPr/>
          <p:nvPr/>
        </p:nvSpPr>
        <p:spPr>
          <a:xfrm>
            <a:off x="769390" y="3357134"/>
            <a:ext cx="9250910" cy="5862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344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6681913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3. Node.js</a:t>
            </a:r>
            <a:r>
              <a:rPr lang="ko-KR" altLang="en-US" dirty="0"/>
              <a:t>라이브러리를 압축하여  </a:t>
            </a:r>
            <a:r>
              <a:rPr lang="en-US" altLang="ko-KR" dirty="0"/>
              <a:t>AWS Lambda</a:t>
            </a:r>
            <a:r>
              <a:rPr lang="ko-KR" altLang="en-US" dirty="0"/>
              <a:t>에 올리기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  1) </a:t>
            </a:r>
            <a:r>
              <a:rPr lang="en-US" altLang="ko-KR" dirty="0" err="1"/>
              <a:t>npm</a:t>
            </a:r>
            <a:r>
              <a:rPr lang="en-US" altLang="ko-KR" dirty="0"/>
              <a:t> install</a:t>
            </a:r>
            <a:r>
              <a:rPr lang="ko-KR" altLang="en-US" dirty="0"/>
              <a:t> </a:t>
            </a:r>
            <a:r>
              <a:rPr lang="en-US" altLang="ko-KR" dirty="0"/>
              <a:t>mongoose</a:t>
            </a:r>
          </a:p>
          <a:p>
            <a:r>
              <a:rPr lang="en-US" altLang="ko-KR" dirty="0"/>
              <a:t>	</a:t>
            </a:r>
            <a:r>
              <a:rPr lang="ko-KR" altLang="en-US" dirty="0"/>
              <a:t> 〮 </a:t>
            </a:r>
            <a:r>
              <a:rPr lang="ko-KR" altLang="en-US" sz="1600" dirty="0"/>
              <a:t>폴더에 처음 </a:t>
            </a:r>
            <a:r>
              <a:rPr lang="en-US" altLang="ko-KR" sz="1600" dirty="0"/>
              <a:t>install </a:t>
            </a:r>
            <a:r>
              <a:rPr lang="ko-KR" altLang="en-US" sz="1600" dirty="0"/>
              <a:t>시 </a:t>
            </a:r>
            <a:r>
              <a:rPr lang="en-US" altLang="ko-KR" sz="1600" dirty="0" err="1"/>
              <a:t>npm</a:t>
            </a:r>
            <a:r>
              <a:rPr lang="en-US" altLang="ko-KR" sz="1600" dirty="0"/>
              <a:t> </a:t>
            </a:r>
            <a:r>
              <a:rPr lang="en-US" altLang="ko-KR" sz="1600" dirty="0" err="1"/>
              <a:t>init</a:t>
            </a:r>
            <a:r>
              <a:rPr lang="ko-KR" altLang="en-US" sz="1600" dirty="0"/>
              <a:t> </a:t>
            </a:r>
            <a:r>
              <a:rPr lang="ko-KR" altLang="en-US" sz="1600" dirty="0" err="1"/>
              <a:t>해주어야함</a:t>
            </a:r>
            <a:endParaRPr lang="en-US" altLang="ko-KR" sz="1600" dirty="0"/>
          </a:p>
          <a:p>
            <a:endParaRPr lang="en-US" altLang="ko-KR" dirty="0"/>
          </a:p>
          <a:p>
            <a:r>
              <a:rPr lang="en-US" altLang="ko-KR" dirty="0"/>
              <a:t>	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 </a:t>
            </a:r>
          </a:p>
          <a:p>
            <a:r>
              <a:rPr lang="en-US" altLang="ko-KR" dirty="0"/>
              <a:t> 2) </a:t>
            </a:r>
            <a:r>
              <a:rPr lang="ko-KR" altLang="en-US" dirty="0"/>
              <a:t>라이브러리 압축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BBDF4C3-2D76-4048-9805-F20012955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368" y="2291855"/>
            <a:ext cx="6837622" cy="215632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6B8B4F6-7FE8-4389-A8CE-BDB39506DFE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607" t="16142" b="65581"/>
          <a:stretch/>
        </p:blipFill>
        <p:spPr>
          <a:xfrm>
            <a:off x="1085972" y="5182345"/>
            <a:ext cx="10448803" cy="1015375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AE6103EA-DF05-4B3D-95D8-7933C7930A4E}"/>
              </a:ext>
            </a:extLst>
          </p:cNvPr>
          <p:cNvSpPr/>
          <p:nvPr/>
        </p:nvSpPr>
        <p:spPr>
          <a:xfrm>
            <a:off x="3756890" y="2291996"/>
            <a:ext cx="1996210" cy="2702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10973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693722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343672" y="988615"/>
            <a:ext cx="668191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4. Amazon Lambda</a:t>
            </a:r>
            <a:r>
              <a:rPr lang="ko-KR" altLang="en-US" dirty="0"/>
              <a:t>의 </a:t>
            </a:r>
            <a:r>
              <a:rPr lang="en-US" altLang="ko-KR" dirty="0"/>
              <a:t>Layer</a:t>
            </a:r>
            <a:r>
              <a:rPr lang="ko-KR" altLang="en-US" dirty="0"/>
              <a:t>에 등록</a:t>
            </a:r>
            <a:endParaRPr lang="en-US" altLang="ko-KR" dirty="0"/>
          </a:p>
          <a:p>
            <a:r>
              <a:rPr lang="en-US" altLang="ko-KR" dirty="0"/>
              <a:t>	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481A41A-635B-4AAD-B8BC-F86B2B8C1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378" y="1545458"/>
            <a:ext cx="4282113" cy="291212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346FE3D-3F57-4CDA-BF90-7ADB9B76F1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472" y="4679424"/>
            <a:ext cx="7551293" cy="1283226"/>
          </a:xfrm>
          <a:prstGeom prst="rect">
            <a:avLst/>
          </a:prstGeom>
        </p:spPr>
      </p:pic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23154C0C-1810-4791-811B-7E80D2B2494E}"/>
              </a:ext>
            </a:extLst>
          </p:cNvPr>
          <p:cNvCxnSpPr>
            <a:cxnSpLocks/>
          </p:cNvCxnSpPr>
          <p:nvPr/>
        </p:nvCxnSpPr>
        <p:spPr>
          <a:xfrm>
            <a:off x="7839075" y="5819775"/>
            <a:ext cx="876300" cy="219075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2639179-3DAC-40FA-B2C2-0AF5CC1504ED}"/>
              </a:ext>
            </a:extLst>
          </p:cNvPr>
          <p:cNvSpPr txBox="1"/>
          <p:nvPr/>
        </p:nvSpPr>
        <p:spPr>
          <a:xfrm>
            <a:off x="8867775" y="5962650"/>
            <a:ext cx="156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Lambda</a:t>
            </a:r>
            <a:r>
              <a:rPr lang="ko-KR" altLang="en-US" sz="1400" dirty="0"/>
              <a:t>함수와 같은 런타임 선택</a:t>
            </a:r>
          </a:p>
        </p:txBody>
      </p:sp>
    </p:spTree>
    <p:extLst>
      <p:ext uri="{BB962C8B-B14F-4D97-AF65-F5344CB8AC3E}">
        <p14:creationId xmlns:p14="http://schemas.microsoft.com/office/powerpoint/2010/main" val="36975237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693722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343672" y="988615"/>
            <a:ext cx="668191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4. Lambda</a:t>
            </a:r>
            <a:r>
              <a:rPr lang="ko-KR" altLang="en-US" dirty="0"/>
              <a:t>함수에 </a:t>
            </a:r>
            <a:r>
              <a:rPr lang="en-US" altLang="ko-KR" dirty="0"/>
              <a:t>layer</a:t>
            </a:r>
            <a:r>
              <a:rPr lang="ko-KR" altLang="en-US" dirty="0"/>
              <a:t>등록</a:t>
            </a:r>
            <a:endParaRPr lang="en-US" altLang="ko-KR" dirty="0"/>
          </a:p>
          <a:p>
            <a:r>
              <a:rPr lang="en-US" altLang="ko-KR" dirty="0"/>
              <a:t>	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98E6747-B2FA-46C8-99DD-2BD5BE683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77" y="1532843"/>
            <a:ext cx="7388431" cy="314393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3FEB241-471F-442E-AC4D-3DB58FA8C6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777" y="4846180"/>
            <a:ext cx="9731084" cy="1351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3449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693722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343672" y="988615"/>
            <a:ext cx="1036565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4. Lambda</a:t>
            </a:r>
            <a:r>
              <a:rPr lang="ko-KR" altLang="en-US" dirty="0"/>
              <a:t>함수 작성</a:t>
            </a:r>
            <a:r>
              <a:rPr lang="en-US" altLang="ko-KR" dirty="0"/>
              <a:t>(</a:t>
            </a:r>
            <a:r>
              <a:rPr lang="ko-KR" altLang="en-US" dirty="0"/>
              <a:t>게시물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	</a:t>
            </a:r>
            <a:r>
              <a:rPr lang="ko-KR" altLang="en-US" sz="1600" dirty="0"/>
              <a:t>〮 게시물 번호</a:t>
            </a:r>
            <a:r>
              <a:rPr lang="en-US" altLang="ko-KR" sz="1600" dirty="0"/>
              <a:t>, </a:t>
            </a:r>
            <a:r>
              <a:rPr lang="ko-KR" altLang="en-US" sz="1600" dirty="0"/>
              <a:t>게시물 작성자</a:t>
            </a:r>
            <a:r>
              <a:rPr lang="en-US" altLang="ko-KR" sz="1600" dirty="0"/>
              <a:t>, </a:t>
            </a:r>
            <a:r>
              <a:rPr lang="ko-KR" altLang="en-US" sz="1600" dirty="0"/>
              <a:t>게시물 비밀번호</a:t>
            </a:r>
            <a:r>
              <a:rPr lang="en-US" altLang="ko-KR" sz="1600" dirty="0"/>
              <a:t>, </a:t>
            </a:r>
            <a:r>
              <a:rPr lang="ko-KR" altLang="en-US" sz="1600" dirty="0"/>
              <a:t>게시물 내용</a:t>
            </a:r>
            <a:r>
              <a:rPr lang="en-US" altLang="ko-KR" sz="1600" dirty="0"/>
              <a:t>, </a:t>
            </a:r>
            <a:r>
              <a:rPr lang="ko-KR" altLang="en-US" sz="1600" dirty="0"/>
              <a:t>게시물 작성일자</a:t>
            </a:r>
            <a:endParaRPr lang="en-US" altLang="ko-KR" sz="1600" dirty="0"/>
          </a:p>
          <a:p>
            <a:r>
              <a:rPr lang="en-US" altLang="ko-KR" dirty="0"/>
              <a:t>	</a:t>
            </a:r>
          </a:p>
          <a:p>
            <a:r>
              <a:rPr lang="en-US" altLang="ko-KR" dirty="0"/>
              <a:t>  1)</a:t>
            </a:r>
            <a:r>
              <a:rPr lang="ko-KR" altLang="en-US" dirty="0"/>
              <a:t>오브젝트 정의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E615371-43EA-478B-B471-EA9CDD5DE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35" y="2281276"/>
            <a:ext cx="8925235" cy="3914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1741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693722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343672" y="988615"/>
            <a:ext cx="103656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2)Mongo</a:t>
            </a:r>
            <a:r>
              <a:rPr lang="ko-KR" altLang="en-US" dirty="0"/>
              <a:t> </a:t>
            </a:r>
            <a:r>
              <a:rPr lang="en-US" altLang="ko-KR" dirty="0"/>
              <a:t>DB</a:t>
            </a:r>
            <a:r>
              <a:rPr lang="ko-KR" altLang="en-US" dirty="0"/>
              <a:t>연결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18AFDB0-74FA-45C0-BC89-096C9300F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10" y="1603066"/>
            <a:ext cx="6425435" cy="2968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1818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693722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343672" y="988615"/>
            <a:ext cx="103656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3) GET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4DCAEF5-F33C-4DBE-8088-D34E1BEF9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54" y="1502179"/>
            <a:ext cx="5244767" cy="404137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5262961-85B0-470E-BC14-B1741BEEBC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052" y="1502180"/>
            <a:ext cx="5881122" cy="4041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0287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693722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343672" y="988615"/>
            <a:ext cx="103656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4) POST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92F1EC3-2483-4291-B838-568DFCC90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1506802"/>
            <a:ext cx="5887611" cy="43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6459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693722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343672" y="988615"/>
            <a:ext cx="103656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5) PUT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05102BC-D0D7-41C0-849C-1F4E9332B0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412" y="1517753"/>
            <a:ext cx="5998464" cy="382249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10AF3EC-EB14-4D8B-A990-13570C6A7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412" y="5407360"/>
            <a:ext cx="6015567" cy="847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1043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693722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343672" y="988615"/>
            <a:ext cx="103656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6)DELETE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68659CF-4E2B-4314-9EFB-F85D9E8E9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83" y="1496353"/>
            <a:ext cx="6156992" cy="372351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4698AF6-461D-4304-93D0-C426700C08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484" y="5329304"/>
            <a:ext cx="6156991" cy="114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2551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 – TEST&amp;RESULT 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693722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343672" y="988615"/>
            <a:ext cx="1036565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TEST &amp; RESULT</a:t>
            </a:r>
          </a:p>
          <a:p>
            <a:endParaRPr lang="en-US" altLang="ko-KR" dirty="0"/>
          </a:p>
          <a:p>
            <a:r>
              <a:rPr lang="en-US" altLang="ko-KR" dirty="0"/>
              <a:t>1)POST TEST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441C578-CA06-4172-A302-489889231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03" y="2091947"/>
            <a:ext cx="11237661" cy="342990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18FC46F-5817-474A-8FCE-50749AA677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63" y="2091947"/>
            <a:ext cx="11134850" cy="3546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98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693722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343672" y="988615"/>
            <a:ext cx="103656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2)GET TEST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21D7DD8-D60C-4916-A218-2492A2FBE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800" y="1564625"/>
            <a:ext cx="10830528" cy="346445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1D0A685-8407-4810-9917-A15EA02322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011" y="1611493"/>
            <a:ext cx="6099189" cy="349053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5D4F0AA-1FA4-42EE-9029-F474651F457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0224"/>
          <a:stretch/>
        </p:blipFill>
        <p:spPr>
          <a:xfrm>
            <a:off x="6934200" y="1626923"/>
            <a:ext cx="4798497" cy="340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392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693722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343672" y="988615"/>
            <a:ext cx="103656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2)GET TEST</a:t>
            </a:r>
          </a:p>
          <a:p>
            <a:endParaRPr lang="en-US" altLang="ko-KR" dirty="0"/>
          </a:p>
          <a:p>
            <a:r>
              <a:rPr lang="en-US" altLang="ko-KR" dirty="0"/>
              <a:t>     </a:t>
            </a:r>
            <a:r>
              <a:rPr lang="en-US" altLang="ko-KR" sz="1600" dirty="0"/>
              <a:t>〮 </a:t>
            </a:r>
            <a:r>
              <a:rPr lang="ko-KR" altLang="en-US" sz="1600" dirty="0"/>
              <a:t>특정 </a:t>
            </a:r>
            <a:r>
              <a:rPr lang="en-US" altLang="ko-KR" sz="1600" dirty="0"/>
              <a:t>id </a:t>
            </a:r>
            <a:r>
              <a:rPr lang="ko-KR" altLang="en-US" sz="1600" dirty="0"/>
              <a:t>찾기</a:t>
            </a:r>
            <a:endParaRPr lang="en-US" altLang="ko-KR" sz="1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3E10CF2-424A-4FD4-A622-BD40AC96C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963" y="2117417"/>
            <a:ext cx="10334074" cy="340829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CFF9523-42C1-4079-BB2E-65C4428487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962" y="2043654"/>
            <a:ext cx="10443887" cy="356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076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693722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2B8FE1D-50AC-4F85-AF93-81F19C91A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97" y="1908286"/>
            <a:ext cx="5455403" cy="3614918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F506C964-84D4-4BBC-82F0-607580CD0FB9}"/>
              </a:ext>
            </a:extLst>
          </p:cNvPr>
          <p:cNvSpPr/>
          <p:nvPr/>
        </p:nvSpPr>
        <p:spPr>
          <a:xfrm>
            <a:off x="629022" y="1188453"/>
            <a:ext cx="14847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〮 Mongo DB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925BC64-D460-4F7A-9CA4-E9AB1F784E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805" y="1917964"/>
            <a:ext cx="4702855" cy="3614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0682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693722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343672" y="988615"/>
            <a:ext cx="10365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3)PUT TEST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BABD0A-88A7-4923-A9BB-9757CE09C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631" y="1770180"/>
            <a:ext cx="10602312" cy="339925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DFFC277-98BE-4347-B2AD-7EAFCE24BD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631" y="1680670"/>
            <a:ext cx="10696719" cy="384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682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693722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506C964-84D4-4BBC-82F0-607580CD0FB9}"/>
              </a:ext>
            </a:extLst>
          </p:cNvPr>
          <p:cNvSpPr/>
          <p:nvPr/>
        </p:nvSpPr>
        <p:spPr>
          <a:xfrm>
            <a:off x="629022" y="1188453"/>
            <a:ext cx="16482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〮 Mongo DB  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FD0A3B5-C58B-40AD-81BD-FD1E19DD3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340" y="4289739"/>
            <a:ext cx="6123445" cy="170733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697AA00-72A4-4554-90AC-523B77045C5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7294"/>
          <a:stretch/>
        </p:blipFill>
        <p:spPr>
          <a:xfrm>
            <a:off x="745340" y="1801309"/>
            <a:ext cx="6624185" cy="1627691"/>
          </a:xfrm>
          <a:prstGeom prst="rect">
            <a:avLst/>
          </a:prstGeom>
        </p:spPr>
      </p:pic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EFD12E44-C485-4B4F-852F-FCBD3F76DAB2}"/>
              </a:ext>
            </a:extLst>
          </p:cNvPr>
          <p:cNvSpPr/>
          <p:nvPr/>
        </p:nvSpPr>
        <p:spPr>
          <a:xfrm>
            <a:off x="3788524" y="3429000"/>
            <a:ext cx="537815" cy="51143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8389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693722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343672" y="988615"/>
            <a:ext cx="10365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4)DELETE TEST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724821E-5807-4981-B6FF-D2494C2BD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440" y="1703485"/>
            <a:ext cx="10391119" cy="322000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96B70C2-CD0D-4BDA-A4D3-25FFD3B0CD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269" y="1617073"/>
            <a:ext cx="10918900" cy="3537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269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693722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506C964-84D4-4BBC-82F0-607580CD0FB9}"/>
              </a:ext>
            </a:extLst>
          </p:cNvPr>
          <p:cNvSpPr/>
          <p:nvPr/>
        </p:nvSpPr>
        <p:spPr>
          <a:xfrm>
            <a:off x="629022" y="1188453"/>
            <a:ext cx="16482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〮 Mongo DB  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35B528F-E189-4AE5-8981-91CF4A2E6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468" y="1716567"/>
            <a:ext cx="5479403" cy="314990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6B5A03B-E16E-43D5-A7CB-FEC048C406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4319" y="1716567"/>
            <a:ext cx="5071245" cy="2514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8587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4. END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0152E7-3D69-1E4A-8AC8-3C1CBF5791B8}"/>
              </a:ext>
            </a:extLst>
          </p:cNvPr>
          <p:cNvSpPr txBox="1"/>
          <p:nvPr/>
        </p:nvSpPr>
        <p:spPr>
          <a:xfrm>
            <a:off x="5646816" y="3204118"/>
            <a:ext cx="138211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4000" b="1" dirty="0"/>
              <a:t>END</a:t>
            </a:r>
          </a:p>
          <a:p>
            <a:r>
              <a:rPr kumimoji="1" lang="en-US" altLang="ko-KR" sz="4000" b="1" dirty="0"/>
              <a:t> </a:t>
            </a:r>
            <a:r>
              <a:rPr kumimoji="1" lang="ko-KR" altLang="en-US" sz="4000" b="1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endParaRPr lang="ko-KR" altLang="en-US" sz="1600" b="1" dirty="0">
              <a:solidFill>
                <a:srgbClr val="C0504D">
                  <a:lumMod val="75000"/>
                </a:srgbClr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algn="ctr" defTabSz="457200" latinLnBrk="0"/>
            <a:r>
              <a:rPr lang="ko-KR" altLang="en-US" sz="1600" b="1" dirty="0">
                <a:solidFill>
                  <a:srgbClr val="C0504D">
                    <a:lumMod val="75000"/>
                  </a:srgbClr>
                </a:solidFill>
                <a:latin typeface="+mj-ea"/>
                <a:ea typeface="+mj-ea"/>
                <a:cs typeface="Times New Roman" panose="02020603050405020304" pitchFamily="18" charset="0"/>
              </a:rPr>
              <a:t>
</a:t>
            </a:r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664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2418</TotalTime>
  <Words>1625</Words>
  <Application>Microsoft Office PowerPoint</Application>
  <PresentationFormat>와이드스크린</PresentationFormat>
  <Paragraphs>418</Paragraphs>
  <Slides>33</Slides>
  <Notes>33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7" baseType="lpstr">
      <vt:lpstr>맑은 고딕</vt:lpstr>
      <vt:lpstr>Arial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y7133</dc:creator>
  <cp:lastModifiedBy>y7133</cp:lastModifiedBy>
  <cp:revision>61</cp:revision>
  <dcterms:created xsi:type="dcterms:W3CDTF">2020-07-09T09:06:23Z</dcterms:created>
  <dcterms:modified xsi:type="dcterms:W3CDTF">2020-07-17T05:02:05Z</dcterms:modified>
</cp:coreProperties>
</file>