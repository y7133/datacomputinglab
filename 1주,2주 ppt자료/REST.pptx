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7" r:id="rId2"/>
    <p:sldId id="626" r:id="rId3"/>
    <p:sldId id="625" r:id="rId4"/>
    <p:sldId id="627" r:id="rId5"/>
    <p:sldId id="628" r:id="rId6"/>
    <p:sldId id="629" r:id="rId7"/>
    <p:sldId id="630" r:id="rId8"/>
    <p:sldId id="633" r:id="rId9"/>
    <p:sldId id="634" r:id="rId10"/>
    <p:sldId id="631" r:id="rId11"/>
    <p:sldId id="632" r:id="rId12"/>
    <p:sldId id="636" r:id="rId13"/>
    <p:sldId id="637" r:id="rId14"/>
    <p:sldId id="638" r:id="rId15"/>
    <p:sldId id="639" r:id="rId16"/>
    <p:sldId id="640" r:id="rId17"/>
    <p:sldId id="641" r:id="rId18"/>
    <p:sldId id="642" r:id="rId19"/>
    <p:sldId id="643" r:id="rId20"/>
    <p:sldId id="647" r:id="rId21"/>
    <p:sldId id="645" r:id="rId22"/>
    <p:sldId id="646" r:id="rId23"/>
    <p:sldId id="611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40" d="100"/>
          <a:sy n="40" d="100"/>
        </p:scale>
        <p:origin x="56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890648-0623-425A-9E45-E378A81C67E8}" type="datetimeFigureOut">
              <a:rPr lang="ko-KR" altLang="en-US" smtClean="0"/>
              <a:t>2020-07-09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0B0B2F-7BA1-4F17-8DD2-0C7B81D795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9109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16550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현재 호스트의 </a:t>
            </a:r>
            <a:r>
              <a:rPr lang="en-US" altLang="ko-KR" dirty="0"/>
              <a:t>CPU,</a:t>
            </a:r>
            <a:r>
              <a:rPr lang="ko-KR" altLang="en-US" dirty="0"/>
              <a:t> </a:t>
            </a:r>
            <a:r>
              <a:rPr lang="en-US" altLang="ko-KR" dirty="0"/>
              <a:t>MEM, disk i/o </a:t>
            </a:r>
            <a:r>
              <a:rPr lang="ko-KR" altLang="en-US" dirty="0"/>
              <a:t>만 고려해서 배치</a:t>
            </a:r>
            <a:endParaRPr lang="en-US" altLang="ko-KR" dirty="0"/>
          </a:p>
          <a:p>
            <a:r>
              <a:rPr lang="ko-KR" altLang="en-US" dirty="0"/>
              <a:t>근데</a:t>
            </a:r>
            <a:r>
              <a:rPr lang="en-US" altLang="ko-KR" dirty="0"/>
              <a:t> VM</a:t>
            </a:r>
            <a:r>
              <a:rPr lang="ko-KR" altLang="en-US" dirty="0"/>
              <a:t> 런칭시에도 오버헤드가 발생</a:t>
            </a:r>
            <a:endParaRPr lang="en-US" altLang="ko-KR" dirty="0"/>
          </a:p>
          <a:p>
            <a:r>
              <a:rPr lang="ko-KR" altLang="en-US" dirty="0"/>
              <a:t>얼마나 발생하는 지를 측정해서 </a:t>
            </a:r>
            <a:endParaRPr lang="en-US" altLang="ko-KR" dirty="0"/>
          </a:p>
          <a:p>
            <a:r>
              <a:rPr lang="ko-KR" altLang="en-US" dirty="0"/>
              <a:t>머신에 무리가 가지않는 호스트를 선택해서 해당 부분에 할당 및 런칭</a:t>
            </a:r>
            <a:endParaRPr lang="en-US" altLang="ko-K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65612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보통 클라우드내 환경에서 여러 사용자들이 각기 다른 작업을 수행하기 때문에 작업별 필요한 자원의 양이나 종류가 상이하다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133340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보통 클라우드내 환경에서 여러 사용자들이 각기 다른 작업을 수행하기 때문에 작업별 필요한 자원의 양이나 종류가 상이하다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8870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보통 클라우드내 환경에서 여러 사용자들이 각기 다른 작업을 수행하기 때문에 작업별 필요한 자원의 양이나 종류가 상이하다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78499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보통 클라우드내 환경에서 여러 사용자들이 각기 다른 작업을 수행하기 때문에 작업별 필요한 자원의 양이나 종류가 상이하다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186517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보통 클라우드내 환경에서 여러 사용자들이 각기 다른 작업을 수행하기 때문에 작업별 필요한 자원의 양이나 종류가 상이하다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251898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보통 클라우드내 환경에서 여러 사용자들이 각기 다른 작업을 수행하기 때문에 작업별 필요한 자원의 양이나 종류가 상이하다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073542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보통 클라우드내 환경에서 여러 사용자들이 각기 다른 작업을 수행하기 때문에 작업별 필요한 자원의 양이나 종류가 상이하다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723787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보통 클라우드내 환경에서 여러 사용자들이 각기 다른 작업을 수행하기 때문에 작업별 필요한 자원의 양이나 종류가 상이하다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845078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보통 클라우드내 환경에서 여러 사용자들이 각기 다른 작업을 수행하기 때문에 작업별 필요한 자원의 양이나 종류가 상이하다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731413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보통 클라우드내 환경에서 여러 사용자들이 각기 다른 작업을 수행하기 때문에 작업별 필요한 자원의 양이나 종류가 상이하다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203070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보통 클라우드내 환경에서 여러 사용자들이 각기 다른 작업을 수행하기 때문에 작업별 필요한 자원의 양이나 종류가 상이하다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250141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보통 클라우드내 환경에서 여러 사용자들이 각기 다른 작업을 수행하기 때문에 작업별 필요한 자원의 양이나 종류가 상이하다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897713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보통 클라우드내 환경에서 여러 사용자들이 각기 다른 작업을 수행하기 때문에 작업별 필요한 자원의 양이나 종류가 상이하다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027240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보통 클라우드내 환경에서 여러 사용자들이 각기 다른 작업을 수행하기 때문에 작업별 필요한 자원의 양이나 종류가 상이하다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45361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보통 클라우드내 환경에서 여러 사용자들이 각기 다른 작업을 수행하기 때문에 작업별 필요한 자원의 양이나 종류가 상이하다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349113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보통 클라우드내 환경에서 여러 사용자들이 각기 다른 작업을 수행하기 때문에 작업별 필요한 자원의 양이나 종류가 상이하다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881238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보통 클라우드내 환경에서 여러 사용자들이 각기 다른 작업을 수행하기 때문에 작업별 필요한 자원의 양이나 종류가 상이하다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046632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보통 클라우드내 환경에서 여러 사용자들이 각기 다른 작업을 수행하기 때문에 작업별 필요한 자원의 양이나 종류가 상이하다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20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125487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보통 클라우드내 환경에서 여러 사용자들이 각기 다른 작업을 수행하기 때문에 작업별 필요한 자원의 양이나 종류가 상이하다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21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215035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보통 클라우드내 환경에서 여러 사용자들이 각기 다른 작업을 수행하기 때문에 작업별 필요한 자원의 양이나 종류가 상이하다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22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77795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23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80168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110C23-669B-4262-AE10-D567246FC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895790B-8D9E-4E46-8231-169495C820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C9E31C-3772-4D21-BBFD-3D05B696F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F84A8C-BC08-47B2-B88C-989413279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4127A9-28AA-45E8-823D-8878676B4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9389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164CB6-2817-4DC9-A65F-40D5C27D3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68BC88-3C39-4D5C-86E9-22D735A02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9BD2E5-5C73-484B-86FC-A94511B46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F7ED24-E0DB-4C69-B3A5-8B619C0F0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4F50EF-EBF1-44EC-AC7D-860FC1AE1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08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4307EB-44E7-462E-A0D5-48FEC3C97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D594B2-0E01-4768-86E1-0AFEAB094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A28371-74E1-4F88-B9F0-8BF1981CA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C84C32-EF94-42FF-8FE1-B3AEF28E8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B9A78-5779-4750-8083-97E13C1BD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4490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F4F88C-01C9-4FC3-93E4-8F3F30390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CB828F-385B-45CD-9428-9248E1EFAE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0C0D33-FE7D-467C-B1E4-7764C68C3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766103-63E4-4E29-87C6-CCF0127E1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BD5791-A0B5-4CBE-A4C4-B94C74EAB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5DB918-FE00-4E88-B4AC-347DD670A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905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694E05-2EA4-4C2E-9710-CB796EB9F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5C29CB-E5DA-4A43-9C0E-F044D15CA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EFF0CB-8A89-4E44-ABD2-0950D9484A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9C85F8C-0728-414B-8A3B-A043C387EC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3D0BDEF-E195-43CD-AE73-EE64590E22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E4F6D54-1AF5-4DFB-9329-87E561CEC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A001D50-8E33-46FF-AA9C-D47AABF75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D9FF518-E31E-4D63-8AAE-835F7318E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375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6BD440-EB89-4A5A-878F-48E565F94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E4664D8-86D0-49F9-A52B-2510EC5BE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223A225-5523-4F1E-BD22-4B53795B5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520FD0-9025-4AC6-BC54-AA0145066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2085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3DB147B-5B48-48D5-830A-4895601F9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D6614AA-002F-41D3-B443-9D9FD5A71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E2360B-69AD-4962-8BBC-D2CA04776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070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806795-6B02-4A09-A781-02ADC1B03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2CEAD2-3109-432C-9B78-FCA74B7CB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E6FC82-8894-4443-8F48-240F11754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71C32E-9CCD-4F43-AADA-A8EF11752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72AC35-DDD2-45A4-A6E8-C452491B8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6E737A-9C2F-42A8-853D-556BACDD3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509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BDB62B-DA76-459A-9797-0A1D1B461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E48AA9-38C2-4AF6-A706-E38F4B2AC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505C49-A6D4-4C0E-9158-6DF54B2D2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3F96FC8-FDEB-49D3-A8B9-CA98704B1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3211BA-925D-40E9-9EBB-09CCBF9BB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4CFE6F-937D-405A-A089-13E601ECA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961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F6B286-DAD8-4E50-BC04-A4DAC6A5A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F04228-82F2-4C8C-AB5E-91AF99F647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3AC888-C629-448C-B286-82A432806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C01A02-8B06-42AC-BAF8-61DAB7553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5628C2-0395-4EC5-895D-4A79ED6A4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615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24B80D8-29AD-42FD-920B-A40393FD49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BCC33C8-102E-4EC6-B15A-4D351F9137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D3C67E-D7F9-4303-8FFB-81C73AC8F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64152E-D2C8-4606-9752-A4A59A903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378B2D-ACC6-4C45-9E4A-429FF09F2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559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9949584" y="6439048"/>
            <a:ext cx="1955980" cy="228600"/>
          </a:xfrm>
        </p:spPr>
        <p:txBody>
          <a:bodyPr/>
          <a:lstStyle>
            <a:lvl1pP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337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EAD33F0-607D-48C5-9056-67E9A3052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96AC83-469E-4F11-A8BF-6CB495F71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466B96-15D3-4E46-83E9-D8B0E9F272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F83C2-04C5-4DE0-B630-EE88FC77DF3B}" type="datetimeFigureOut">
              <a:rPr lang="ko-KR" altLang="en-US" smtClean="0"/>
              <a:t>2020-07-09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BECDFB-D5B3-4FDE-922F-E652BD9442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9C4263-FFB2-4588-9EE8-44A7158A5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6018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restapi.example.com/houses/apartments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://restapi.example.com/houses/apartments/(x)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f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FB4E9E6-F133-6C4A-A824-C4C4C84EAC08}"/>
              </a:ext>
            </a:extLst>
          </p:cNvPr>
          <p:cNvSpPr/>
          <p:nvPr/>
        </p:nvSpPr>
        <p:spPr>
          <a:xfrm>
            <a:off x="-11575" y="2797980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584ACA-BF48-4D47-85CD-02B6BC488F1B}"/>
              </a:ext>
            </a:extLst>
          </p:cNvPr>
          <p:cNvSpPr txBox="1"/>
          <p:nvPr/>
        </p:nvSpPr>
        <p:spPr>
          <a:xfrm>
            <a:off x="1982779" y="507951"/>
            <a:ext cx="8226442" cy="12919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3600" b="1" dirty="0">
                <a:solidFill>
                  <a:srgbClr val="C0504D">
                    <a:lumMod val="75000"/>
                  </a:srgbClr>
                </a:solidFill>
                <a:latin typeface="+mj-ea"/>
                <a:ea typeface="+mj-ea"/>
                <a:cs typeface="Times New Roman" panose="02020603050405020304" pitchFamily="18" charset="0"/>
              </a:rPr>
              <a:t>REST</a:t>
            </a:r>
          </a:p>
          <a:p>
            <a:pPr algn="ctr" defTabSz="457200" latinLnBrk="0"/>
            <a:r>
              <a:rPr lang="en-US" altLang="ko-KR" sz="2400" b="1" dirty="0">
                <a:latin typeface="+mj-ea"/>
                <a:ea typeface="+mj-ea"/>
                <a:cs typeface="Times New Roman" panose="02020603050405020304" pitchFamily="18" charset="0"/>
              </a:rPr>
              <a:t>(7.10.2020</a:t>
            </a:r>
            <a:r>
              <a:rPr lang="ko-KR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ko-KR" sz="2400" b="1" dirty="0">
                <a:latin typeface="+mj-ea"/>
                <a:ea typeface="+mj-ea"/>
                <a:cs typeface="Times New Roman" panose="02020603050405020304" pitchFamily="18" charset="0"/>
              </a:rPr>
              <a:t>/</a:t>
            </a:r>
            <a:r>
              <a:rPr lang="ko-KR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ko-KR" sz="2400" b="1" dirty="0">
                <a:latin typeface="+mj-ea"/>
                <a:ea typeface="+mj-ea"/>
                <a:cs typeface="Times New Roman" panose="02020603050405020304" pitchFamily="18" charset="0"/>
              </a:rPr>
              <a:t>DCLAB Seminar)</a:t>
            </a:r>
          </a:p>
          <a:p>
            <a:pPr algn="ctr" defTabSz="457200" latinLnBrk="0"/>
            <a:r>
              <a:rPr lang="ko-KR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오지영</a:t>
            </a:r>
            <a:endParaRPr lang="en-US" altLang="ko-KR" sz="2400" b="1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39" name="Picture 1">
            <a:extLst>
              <a:ext uri="{FF2B5EF4-FFF2-40B4-BE49-F238E27FC236}">
                <a16:creationId xmlns:a16="http://schemas.microsoft.com/office/drawing/2014/main" id="{B3D0E673-E21E-C84D-9059-39CF93945CD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2000"/>
          </a:blip>
          <a:srcRect t="41751" b="11146"/>
          <a:stretch/>
        </p:blipFill>
        <p:spPr>
          <a:xfrm>
            <a:off x="0" y="2963119"/>
            <a:ext cx="12192000" cy="3916350"/>
          </a:xfrm>
          <a:prstGeom prst="rect">
            <a:avLst/>
          </a:prstGeom>
          <a:ln>
            <a:noFill/>
          </a:ln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31B32FC9-77DA-DC4F-8E98-91F379615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6561" y="2251474"/>
            <a:ext cx="1515727" cy="42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794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0.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Contents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35DED6E-BB33-1E4C-ABAE-5B7F438FD0E7}"/>
              </a:ext>
            </a:extLst>
          </p:cNvPr>
          <p:cNvSpPr txBox="1"/>
          <p:nvPr/>
        </p:nvSpPr>
        <p:spPr>
          <a:xfrm>
            <a:off x="881596" y="1349970"/>
            <a:ext cx="4512774" cy="2739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ko-KR" b="1" dirty="0">
                <a:latin typeface="+mj-ea"/>
                <a:ea typeface="+mj-ea"/>
              </a:rPr>
              <a:t>REST</a:t>
            </a:r>
          </a:p>
          <a:p>
            <a:pPr lvl="1"/>
            <a:r>
              <a:rPr lang="en-US" b="1" dirty="0">
                <a:latin typeface="+mj-ea"/>
                <a:ea typeface="+mj-ea"/>
              </a:rPr>
              <a:t>	1.   REST</a:t>
            </a:r>
            <a:r>
              <a:rPr lang="ko-KR" altLang="en-US" b="1" dirty="0">
                <a:latin typeface="+mj-ea"/>
                <a:ea typeface="+mj-ea"/>
              </a:rPr>
              <a:t>의 의미</a:t>
            </a:r>
            <a:endParaRPr lang="en-US" altLang="ko-KR" b="1" dirty="0">
              <a:latin typeface="+mj-ea"/>
              <a:ea typeface="+mj-ea"/>
            </a:endParaRPr>
          </a:p>
          <a:p>
            <a:pPr lvl="1"/>
            <a:r>
              <a:rPr lang="en-US" b="1" dirty="0">
                <a:latin typeface="+mj-ea"/>
                <a:ea typeface="+mj-ea"/>
              </a:rPr>
              <a:t>	2.   REST</a:t>
            </a:r>
            <a:r>
              <a:rPr lang="ko-KR" altLang="en-US" b="1" dirty="0">
                <a:latin typeface="+mj-ea"/>
                <a:ea typeface="+mj-ea"/>
              </a:rPr>
              <a:t>가 필요한 이유 및 목표</a:t>
            </a:r>
            <a:endParaRPr lang="en-US" altLang="ko-KR" b="1" dirty="0">
              <a:latin typeface="+mj-ea"/>
              <a:ea typeface="+mj-ea"/>
            </a:endParaRPr>
          </a:p>
          <a:p>
            <a:pPr lvl="1"/>
            <a:r>
              <a:rPr lang="en-US" b="1" dirty="0">
                <a:latin typeface="+mj-ea"/>
                <a:ea typeface="+mj-ea"/>
              </a:rPr>
              <a:t>	3.   REST</a:t>
            </a:r>
            <a:r>
              <a:rPr lang="ko-KR" altLang="en-US" b="1" dirty="0">
                <a:latin typeface="+mj-ea"/>
                <a:ea typeface="+mj-ea"/>
              </a:rPr>
              <a:t>의 구성요소</a:t>
            </a:r>
            <a:endParaRPr lang="en-US" altLang="ko-KR" b="1" dirty="0">
              <a:latin typeface="+mj-ea"/>
              <a:ea typeface="+mj-ea"/>
            </a:endParaRPr>
          </a:p>
          <a:p>
            <a:pPr lvl="1"/>
            <a:r>
              <a:rPr lang="en-US" b="1" dirty="0">
                <a:latin typeface="+mj-ea"/>
                <a:ea typeface="+mj-ea"/>
              </a:rPr>
              <a:t>	4.   REST</a:t>
            </a:r>
            <a:r>
              <a:rPr lang="ko-KR" altLang="en-US" b="1" dirty="0">
                <a:latin typeface="+mj-ea"/>
                <a:ea typeface="+mj-ea"/>
              </a:rPr>
              <a:t>의 장단점</a:t>
            </a:r>
            <a:endParaRPr lang="en-US" altLang="ko-KR" b="1" dirty="0">
              <a:latin typeface="+mj-ea"/>
              <a:ea typeface="+mj-ea"/>
            </a:endParaRPr>
          </a:p>
          <a:p>
            <a:pPr lvl="1"/>
            <a:r>
              <a:rPr lang="en-US" b="1" dirty="0">
                <a:latin typeface="+mj-ea"/>
                <a:ea typeface="+mj-ea"/>
              </a:rPr>
              <a:t>	5.   SOAP</a:t>
            </a:r>
            <a:r>
              <a:rPr lang="ko-KR" altLang="en-US" b="1" dirty="0">
                <a:latin typeface="+mj-ea"/>
                <a:ea typeface="+mj-ea"/>
              </a:rPr>
              <a:t> </a:t>
            </a:r>
            <a:r>
              <a:rPr lang="en-US" altLang="ko-KR" b="1" dirty="0">
                <a:latin typeface="+mj-ea"/>
                <a:ea typeface="+mj-ea"/>
              </a:rPr>
              <a:t>vs</a:t>
            </a:r>
            <a:r>
              <a:rPr lang="ko-KR" altLang="en-US" b="1" dirty="0">
                <a:latin typeface="+mj-ea"/>
                <a:ea typeface="+mj-ea"/>
              </a:rPr>
              <a:t> </a:t>
            </a:r>
            <a:r>
              <a:rPr lang="en-US" altLang="ko-KR" b="1" dirty="0">
                <a:latin typeface="+mj-ea"/>
                <a:ea typeface="+mj-ea"/>
              </a:rPr>
              <a:t>REST</a:t>
            </a:r>
          </a:p>
          <a:p>
            <a:pPr marL="971550" lvl="1" indent="-514350">
              <a:buAutoNum type="arabicPeriod"/>
            </a:pPr>
            <a:endParaRPr lang="en-US" altLang="ko-KR" sz="3200" b="1" dirty="0">
              <a:latin typeface="+mj-ea"/>
              <a:ea typeface="+mj-ea"/>
            </a:endParaRPr>
          </a:p>
          <a:p>
            <a:pPr marL="971550" lvl="1" indent="-514350">
              <a:buAutoNum type="arabicPeriod"/>
            </a:pPr>
            <a:endParaRPr lang="en-US" sz="3200" b="1" dirty="0">
              <a:latin typeface="+mj-ea"/>
              <a:ea typeface="+mj-ea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9ACAF7F-3F67-564E-B0EB-F3B94FC3F127}"/>
              </a:ext>
            </a:extLst>
          </p:cNvPr>
          <p:cNvSpPr txBox="1"/>
          <p:nvPr/>
        </p:nvSpPr>
        <p:spPr>
          <a:xfrm>
            <a:off x="881596" y="3429000"/>
            <a:ext cx="365356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2.   Restful</a:t>
            </a:r>
          </a:p>
          <a:p>
            <a:r>
              <a:rPr lang="en-US" b="1" dirty="0">
                <a:latin typeface="+mj-ea"/>
                <a:ea typeface="+mj-ea"/>
              </a:rPr>
              <a:t>	1.    RESTful</a:t>
            </a:r>
            <a:r>
              <a:rPr lang="ko-KR" altLang="en-US" b="1" dirty="0">
                <a:latin typeface="+mj-ea"/>
                <a:ea typeface="+mj-ea"/>
              </a:rPr>
              <a:t>의 의미</a:t>
            </a:r>
            <a:endParaRPr lang="en-US" altLang="ko-KR" b="1" dirty="0">
              <a:latin typeface="+mj-ea"/>
              <a:ea typeface="+mj-ea"/>
            </a:endParaRPr>
          </a:p>
          <a:p>
            <a:r>
              <a:rPr lang="en-US" b="1" dirty="0">
                <a:latin typeface="+mj-ea"/>
                <a:ea typeface="+mj-ea"/>
              </a:rPr>
              <a:t>	2.    RESTful</a:t>
            </a:r>
            <a:r>
              <a:rPr lang="ko-KR" altLang="en-US" b="1" dirty="0">
                <a:latin typeface="+mj-ea"/>
                <a:ea typeface="+mj-ea"/>
              </a:rPr>
              <a:t>의 목적</a:t>
            </a:r>
            <a:endParaRPr lang="en-US" altLang="ko-KR" b="1" dirty="0">
              <a:latin typeface="+mj-ea"/>
              <a:ea typeface="+mj-ea"/>
            </a:endParaRPr>
          </a:p>
          <a:p>
            <a:endParaRPr lang="en-US" b="1" dirty="0">
              <a:latin typeface="+mj-ea"/>
              <a:ea typeface="+mj-ea"/>
            </a:endParaRPr>
          </a:p>
          <a:p>
            <a:r>
              <a:rPr lang="en-US" b="1" dirty="0">
                <a:latin typeface="+mj-ea"/>
                <a:ea typeface="+mj-ea"/>
              </a:rPr>
              <a:t>3.    REST</a:t>
            </a:r>
            <a:r>
              <a:rPr lang="ko-KR" altLang="en-US" b="1" dirty="0">
                <a:latin typeface="+mj-ea"/>
                <a:ea typeface="+mj-ea"/>
              </a:rPr>
              <a:t> </a:t>
            </a:r>
            <a:r>
              <a:rPr lang="en-US" altLang="ko-KR" b="1" dirty="0">
                <a:latin typeface="+mj-ea"/>
                <a:ea typeface="+mj-ea"/>
              </a:rPr>
              <a:t>API</a:t>
            </a:r>
          </a:p>
          <a:p>
            <a:r>
              <a:rPr lang="en-US" b="1" dirty="0">
                <a:latin typeface="+mj-ea"/>
                <a:ea typeface="+mj-ea"/>
              </a:rPr>
              <a:t>	1.   REST API</a:t>
            </a:r>
            <a:r>
              <a:rPr lang="ko-KR" altLang="en-US" b="1" dirty="0">
                <a:latin typeface="+mj-ea"/>
                <a:ea typeface="+mj-ea"/>
              </a:rPr>
              <a:t>란</a:t>
            </a:r>
            <a:endParaRPr lang="en-US" altLang="ko-KR" b="1" dirty="0">
              <a:latin typeface="+mj-ea"/>
              <a:ea typeface="+mj-ea"/>
            </a:endParaRPr>
          </a:p>
          <a:p>
            <a:r>
              <a:rPr lang="en-US" b="1" dirty="0">
                <a:latin typeface="+mj-ea"/>
                <a:ea typeface="+mj-ea"/>
              </a:rPr>
              <a:t>	2.   REST</a:t>
            </a:r>
            <a:r>
              <a:rPr lang="ko-KR" altLang="en-US" b="1" dirty="0">
                <a:latin typeface="+mj-ea"/>
                <a:ea typeface="+mj-ea"/>
              </a:rPr>
              <a:t> </a:t>
            </a:r>
            <a:r>
              <a:rPr lang="en-US" altLang="ko-KR" b="1" dirty="0">
                <a:latin typeface="+mj-ea"/>
                <a:ea typeface="+mj-ea"/>
              </a:rPr>
              <a:t>API</a:t>
            </a:r>
            <a:r>
              <a:rPr lang="ko-KR" altLang="en-US" b="1" dirty="0">
                <a:latin typeface="+mj-ea"/>
                <a:ea typeface="+mj-ea"/>
              </a:rPr>
              <a:t>의 특징</a:t>
            </a:r>
            <a:endParaRPr lang="en-US" altLang="ko-KR" b="1" dirty="0">
              <a:latin typeface="+mj-ea"/>
              <a:ea typeface="+mj-ea"/>
            </a:endParaRPr>
          </a:p>
          <a:p>
            <a:r>
              <a:rPr lang="en-US" b="1" dirty="0">
                <a:latin typeface="+mj-ea"/>
                <a:ea typeface="+mj-ea"/>
              </a:rPr>
              <a:t>	3.   REST</a:t>
            </a:r>
            <a:r>
              <a:rPr lang="ko-KR" altLang="en-US" b="1" dirty="0">
                <a:latin typeface="+mj-ea"/>
                <a:ea typeface="+mj-ea"/>
              </a:rPr>
              <a:t> </a:t>
            </a:r>
            <a:r>
              <a:rPr lang="en-US" altLang="ko-KR" b="1" dirty="0">
                <a:latin typeface="+mj-ea"/>
                <a:ea typeface="+mj-ea"/>
              </a:rPr>
              <a:t>API </a:t>
            </a:r>
            <a:r>
              <a:rPr lang="ko-KR" altLang="en-US" b="1" dirty="0">
                <a:latin typeface="+mj-ea"/>
                <a:ea typeface="+mj-ea"/>
              </a:rPr>
              <a:t>설계 규칙</a:t>
            </a:r>
            <a:endParaRPr lang="en-US" altLang="ko-KR" b="1" dirty="0">
              <a:latin typeface="+mj-ea"/>
              <a:ea typeface="+mj-ea"/>
            </a:endParaRPr>
          </a:p>
          <a:p>
            <a:r>
              <a:rPr lang="en-US" b="1" dirty="0">
                <a:latin typeface="+mj-ea"/>
                <a:ea typeface="+mj-ea"/>
              </a:rPr>
              <a:t>	4.   REST</a:t>
            </a:r>
            <a:r>
              <a:rPr lang="ko-KR" altLang="en-US" b="1" dirty="0">
                <a:latin typeface="+mj-ea"/>
                <a:ea typeface="+mj-ea"/>
              </a:rPr>
              <a:t> </a:t>
            </a:r>
            <a:r>
              <a:rPr lang="en-US" altLang="ko-KR" b="1" dirty="0">
                <a:latin typeface="+mj-ea"/>
                <a:ea typeface="+mj-ea"/>
              </a:rPr>
              <a:t>API</a:t>
            </a:r>
            <a:r>
              <a:rPr lang="ko-KR" altLang="en-US" b="1" dirty="0">
                <a:latin typeface="+mj-ea"/>
                <a:ea typeface="+mj-ea"/>
              </a:rPr>
              <a:t> 구현 사례</a:t>
            </a:r>
            <a:endParaRPr 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74656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REST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REST</a:t>
            </a:r>
            <a:r>
              <a:rPr lang="ko-KR" altLang="en-US" sz="2800" dirty="0"/>
              <a:t>란</a:t>
            </a:r>
            <a:r>
              <a:rPr lang="en-US" altLang="ko-KR" sz="2800" dirty="0"/>
              <a:t>?</a:t>
            </a:r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b="1" dirty="0">
                <a:solidFill>
                  <a:srgbClr val="FF0000"/>
                </a:solidFill>
              </a:rPr>
              <a:t>자원을 이름으로 구분하여 해당 자원의 상태를 주고 받는 모든 것을 의미함</a:t>
            </a:r>
            <a:endParaRPr lang="en-US" altLang="ko-KR" b="1" dirty="0">
              <a:solidFill>
                <a:srgbClr val="FF0000"/>
              </a:solidFill>
            </a:endParaRPr>
          </a:p>
          <a:p>
            <a:r>
              <a:rPr lang="en-US" altLang="ko-KR" dirty="0"/>
              <a:t>	</a:t>
            </a:r>
            <a:r>
              <a:rPr lang="ko-KR" altLang="en-US" dirty="0"/>
              <a:t>〮 자원의 표현에 의한 상태전달</a:t>
            </a:r>
            <a:endParaRPr lang="en-US" altLang="ko-KR" dirty="0"/>
          </a:p>
          <a:p>
            <a:r>
              <a:rPr lang="en-US" altLang="ko-KR" dirty="0"/>
              <a:t>		- </a:t>
            </a:r>
            <a:r>
              <a:rPr lang="ko-KR" altLang="en-US" dirty="0"/>
              <a:t>자원의 표현</a:t>
            </a:r>
            <a:r>
              <a:rPr lang="en-US" altLang="ko-KR" dirty="0"/>
              <a:t>:</a:t>
            </a:r>
            <a:r>
              <a:rPr lang="ko-KR" altLang="en-US" dirty="0"/>
              <a:t>그 자원을 표현하기 위한 이름</a:t>
            </a:r>
            <a:endParaRPr lang="en-US" altLang="ko-KR" dirty="0"/>
          </a:p>
          <a:p>
            <a:r>
              <a:rPr lang="en-US" altLang="ko-KR" dirty="0"/>
              <a:t>		- ex)DB</a:t>
            </a:r>
            <a:r>
              <a:rPr lang="ko-KR" altLang="en-US" dirty="0"/>
              <a:t>의 학생정보가 자원일 때</a:t>
            </a:r>
            <a:r>
              <a:rPr lang="en-US" altLang="ko-KR" dirty="0"/>
              <a:t>, ‘students’</a:t>
            </a:r>
            <a:r>
              <a:rPr lang="ko-KR" altLang="en-US" dirty="0"/>
              <a:t>를 자원의 표현으로 정함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〮 상태전달</a:t>
            </a:r>
            <a:r>
              <a:rPr lang="en-US" altLang="ko-KR" dirty="0"/>
              <a:t>: JSON or XML</a:t>
            </a:r>
            <a:r>
              <a:rPr lang="ko-KR" altLang="en-US" dirty="0"/>
              <a:t>을 통해 데이터 전달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월드 와이드 웹과 같은 분산 </a:t>
            </a:r>
            <a:r>
              <a:rPr lang="ko-KR" altLang="en-US" dirty="0" err="1"/>
              <a:t>하이퍼</a:t>
            </a:r>
            <a:r>
              <a:rPr lang="ko-KR" altLang="en-US" dirty="0"/>
              <a:t> 미디어 시스템을 위한 소프트웨어 개발 아키텍처의 한 형식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 〮 웹의 기존 기술과 </a:t>
            </a:r>
            <a:r>
              <a:rPr lang="en-US" altLang="ko-KR" dirty="0"/>
              <a:t>HTTP</a:t>
            </a:r>
            <a:r>
              <a:rPr lang="ko-KR" altLang="en-US" dirty="0"/>
              <a:t>프로토콜을 그대로 활용하므로 웹의 장점을 최대한 활용할 수  있는 </a:t>
            </a:r>
            <a:endParaRPr lang="en-US" altLang="ko-KR" dirty="0"/>
          </a:p>
          <a:p>
            <a:r>
              <a:rPr lang="en-US" altLang="ko-KR" dirty="0"/>
              <a:t>	   </a:t>
            </a:r>
            <a:r>
              <a:rPr lang="ko-KR" altLang="en-US" dirty="0"/>
              <a:t>아키텍처 스타일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 〮 네트워크 상에서 </a:t>
            </a:r>
            <a:r>
              <a:rPr lang="en-US" altLang="ko-KR" dirty="0"/>
              <a:t>client</a:t>
            </a:r>
            <a:r>
              <a:rPr lang="ko-KR" altLang="en-US" dirty="0"/>
              <a:t>와 </a:t>
            </a:r>
            <a:r>
              <a:rPr lang="en-US" altLang="ko-KR" dirty="0"/>
              <a:t>server</a:t>
            </a:r>
            <a:r>
              <a:rPr lang="ko-KR" altLang="en-US" dirty="0"/>
              <a:t>사이의 통신방식 중 하나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3. HTTP URI</a:t>
            </a:r>
            <a:r>
              <a:rPr lang="ko-KR" altLang="en-US" dirty="0"/>
              <a:t>를 통해 자원을 명시하고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en-US" altLang="ko-KR" b="1" dirty="0">
                <a:solidFill>
                  <a:srgbClr val="FF0000"/>
                </a:solidFill>
              </a:rPr>
              <a:t>HTTP</a:t>
            </a:r>
            <a:r>
              <a:rPr lang="ko-KR" altLang="en-US" b="1" dirty="0">
                <a:solidFill>
                  <a:srgbClr val="FF0000"/>
                </a:solidFill>
              </a:rPr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METHOD(POST,GET,PUT,DELETE)</a:t>
            </a:r>
          </a:p>
          <a:p>
            <a:r>
              <a:rPr lang="en-US" altLang="ko-KR" dirty="0"/>
              <a:t>   </a:t>
            </a:r>
            <a:r>
              <a:rPr lang="ko-KR" altLang="en-US" dirty="0"/>
              <a:t>를 통해 해당 자원에 대한 </a:t>
            </a:r>
            <a:r>
              <a:rPr lang="en-US" altLang="ko-KR" b="1" dirty="0">
                <a:solidFill>
                  <a:srgbClr val="FF0000"/>
                </a:solidFill>
              </a:rPr>
              <a:t>CRUD Operation</a:t>
            </a:r>
            <a:r>
              <a:rPr lang="ko-KR" altLang="en-US" b="1" dirty="0">
                <a:solidFill>
                  <a:srgbClr val="FF0000"/>
                </a:solidFill>
              </a:rPr>
              <a:t>을 적용함</a:t>
            </a:r>
            <a:endParaRPr lang="en-US" altLang="ko-KR" b="1" dirty="0">
              <a:solidFill>
                <a:srgbClr val="FF0000"/>
              </a:solidFill>
            </a:endParaRPr>
          </a:p>
          <a:p>
            <a:r>
              <a:rPr lang="en-US" altLang="ko-KR" dirty="0"/>
              <a:t>	</a:t>
            </a:r>
            <a:r>
              <a:rPr lang="ko-KR" altLang="en-US" dirty="0"/>
              <a:t> 〮 </a:t>
            </a:r>
            <a:r>
              <a:rPr lang="en-US" altLang="ko-KR" dirty="0"/>
              <a:t>REST</a:t>
            </a:r>
            <a:r>
              <a:rPr lang="ko-KR" altLang="en-US" dirty="0"/>
              <a:t>는 자원기반의 구조 설계의 중심에 리소스가 있고 </a:t>
            </a:r>
            <a:r>
              <a:rPr lang="en-US" altLang="ko-KR" dirty="0"/>
              <a:t>HTTP METHOD</a:t>
            </a:r>
            <a:r>
              <a:rPr lang="ko-KR" altLang="en-US" dirty="0"/>
              <a:t>를 통해</a:t>
            </a:r>
            <a:endParaRPr lang="en-US" altLang="ko-KR" dirty="0"/>
          </a:p>
          <a:p>
            <a:r>
              <a:rPr lang="en-US" altLang="ko-KR" dirty="0"/>
              <a:t>	   Resource</a:t>
            </a:r>
            <a:r>
              <a:rPr lang="ko-KR" altLang="en-US" dirty="0"/>
              <a:t>를 처리하도록 설계된 아키텍처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 〮 </a:t>
            </a:r>
            <a:r>
              <a:rPr lang="en-US" altLang="ko-KR" dirty="0"/>
              <a:t>CRUD Operation: Create(</a:t>
            </a:r>
            <a:r>
              <a:rPr lang="ko-KR" altLang="en-US" dirty="0"/>
              <a:t>생성</a:t>
            </a:r>
            <a:r>
              <a:rPr lang="en-US" altLang="ko-KR" dirty="0"/>
              <a:t>,POST),Read(</a:t>
            </a:r>
            <a:r>
              <a:rPr lang="ko-KR" altLang="en-US" dirty="0"/>
              <a:t>조회</a:t>
            </a:r>
            <a:r>
              <a:rPr lang="en-US" altLang="ko-KR" dirty="0"/>
              <a:t>,GET),Update(</a:t>
            </a:r>
            <a:r>
              <a:rPr lang="ko-KR" altLang="en-US" dirty="0"/>
              <a:t>수정</a:t>
            </a:r>
            <a:r>
              <a:rPr lang="en-US" altLang="ko-KR" dirty="0"/>
              <a:t>,PUT),</a:t>
            </a:r>
          </a:p>
          <a:p>
            <a:r>
              <a:rPr lang="en-US" altLang="ko-KR" dirty="0"/>
              <a:t>	   		   Delete(</a:t>
            </a:r>
            <a:r>
              <a:rPr lang="ko-KR" altLang="en-US" dirty="0"/>
              <a:t>삭제</a:t>
            </a:r>
            <a:r>
              <a:rPr lang="en-US" altLang="ko-KR" dirty="0"/>
              <a:t>,DELETE),Head(header</a:t>
            </a:r>
            <a:r>
              <a:rPr lang="ko-KR" altLang="en-US" dirty="0"/>
              <a:t>정보 조회</a:t>
            </a:r>
            <a:r>
              <a:rPr lang="en-US" altLang="ko-KR" dirty="0"/>
              <a:t>,HEAD)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8269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REST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REST</a:t>
            </a:r>
            <a:r>
              <a:rPr lang="ko-KR" altLang="en-US" sz="2800" dirty="0"/>
              <a:t>가 필요한 이유</a:t>
            </a:r>
            <a:endParaRPr lang="en-US" altLang="ko-KR" sz="2800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애플리케이션 분리 및 통합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다양한 클라이언트의 등장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다양한 브라우저와 안드로이드폰 등 모바일 디바이스에서도 통신을 할 수 있어야함</a:t>
            </a:r>
            <a:endParaRPr lang="en-US" altLang="ko-KR" dirty="0"/>
          </a:p>
          <a:p>
            <a:r>
              <a:rPr lang="ko-KR" altLang="ko-KR" dirty="0"/>
              <a:t>→</a:t>
            </a:r>
            <a:r>
              <a:rPr lang="en-US" altLang="ko-KR" dirty="0"/>
              <a:t> </a:t>
            </a:r>
            <a:r>
              <a:rPr lang="ko-KR" altLang="en-US" dirty="0"/>
              <a:t>매번 서버를 새로 만드는 수고를 들이지 않기 위해서 범용적인 사용성을 보장하는 서버 디자인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sz="2800" dirty="0"/>
              <a:t>REST</a:t>
            </a:r>
            <a:r>
              <a:rPr lang="ko-KR" altLang="en-US" sz="2800" dirty="0"/>
              <a:t>의 주요 목표</a:t>
            </a:r>
            <a:endParaRPr lang="en-US" altLang="ko-KR" sz="2800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구성 요소 상호작용의 규모 확장성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인터페이스의 범용성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구성요소의 독립적인 배포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중간적</a:t>
            </a:r>
            <a:r>
              <a:rPr lang="en-US" altLang="ko-KR" dirty="0"/>
              <a:t> </a:t>
            </a:r>
            <a:r>
              <a:rPr lang="ko-KR" altLang="en-US" dirty="0"/>
              <a:t>구성요소를 이용해 응답 지연 감소</a:t>
            </a:r>
            <a:r>
              <a:rPr lang="en-US" altLang="ko-KR" dirty="0"/>
              <a:t>, </a:t>
            </a:r>
            <a:r>
              <a:rPr lang="ko-KR" altLang="en-US" dirty="0"/>
              <a:t>보안강화</a:t>
            </a:r>
          </a:p>
        </p:txBody>
      </p:sp>
    </p:spTree>
    <p:extLst>
      <p:ext uri="{BB962C8B-B14F-4D97-AF65-F5344CB8AC3E}">
        <p14:creationId xmlns:p14="http://schemas.microsoft.com/office/powerpoint/2010/main" val="4270185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REST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REST </a:t>
            </a:r>
            <a:r>
              <a:rPr lang="ko-KR" altLang="en-US" sz="2800" dirty="0"/>
              <a:t>구성요소</a:t>
            </a:r>
            <a:endParaRPr lang="en-US" altLang="ko-KR" sz="2800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b="1" dirty="0"/>
              <a:t>자원</a:t>
            </a:r>
            <a:r>
              <a:rPr lang="en-US" altLang="ko-KR" b="1" dirty="0"/>
              <a:t>:URI</a:t>
            </a:r>
          </a:p>
          <a:p>
            <a:pPr lvl="1"/>
            <a:r>
              <a:rPr lang="en-US" altLang="ko-KR" dirty="0"/>
              <a:t>	 </a:t>
            </a:r>
            <a:r>
              <a:rPr lang="ko-KR" altLang="en-US" dirty="0"/>
              <a:t>〮 모든 자원에 대하 고유한 </a:t>
            </a:r>
            <a:r>
              <a:rPr lang="en-US" altLang="ko-KR" dirty="0"/>
              <a:t>ID</a:t>
            </a:r>
            <a:r>
              <a:rPr lang="ko-KR" altLang="en-US" dirty="0"/>
              <a:t>가 존재하고</a:t>
            </a:r>
            <a:r>
              <a:rPr lang="en-US" altLang="ko-KR" dirty="0"/>
              <a:t>, </a:t>
            </a:r>
            <a:r>
              <a:rPr lang="ko-KR" altLang="en-US" dirty="0"/>
              <a:t>이 자원은 </a:t>
            </a:r>
            <a:r>
              <a:rPr lang="en-US" altLang="ko-KR" dirty="0"/>
              <a:t>Server</a:t>
            </a:r>
            <a:r>
              <a:rPr lang="ko-KR" altLang="en-US" dirty="0"/>
              <a:t>에 존재함</a:t>
            </a:r>
            <a:endParaRPr lang="en-US" altLang="ko-KR" dirty="0"/>
          </a:p>
          <a:p>
            <a:pPr lvl="1"/>
            <a:r>
              <a:rPr lang="en-US" altLang="ko-KR" dirty="0"/>
              <a:t>	</a:t>
            </a:r>
            <a:r>
              <a:rPr lang="ko-KR" altLang="en-US" dirty="0"/>
              <a:t> 〮 자원을 구별하는 </a:t>
            </a:r>
            <a:r>
              <a:rPr lang="en-US" altLang="ko-KR" dirty="0"/>
              <a:t>ID</a:t>
            </a:r>
            <a:r>
              <a:rPr lang="ko-KR" altLang="en-US" dirty="0"/>
              <a:t>는 </a:t>
            </a:r>
            <a:r>
              <a:rPr lang="en-US" altLang="ko-KR" dirty="0"/>
              <a:t>HTTP URI</a:t>
            </a:r>
            <a:r>
              <a:rPr lang="ko-KR" altLang="en-US" dirty="0"/>
              <a:t>다</a:t>
            </a:r>
            <a:endParaRPr lang="en-US" altLang="ko-KR" dirty="0"/>
          </a:p>
          <a:p>
            <a:pPr lvl="1"/>
            <a:r>
              <a:rPr lang="en-US" altLang="ko-KR" dirty="0"/>
              <a:t>	</a:t>
            </a:r>
            <a:r>
              <a:rPr lang="ko-KR" altLang="en-US" dirty="0"/>
              <a:t> 〮 클라이언트는 </a:t>
            </a:r>
            <a:r>
              <a:rPr lang="en-US" altLang="ko-KR" dirty="0"/>
              <a:t>URI</a:t>
            </a:r>
            <a:r>
              <a:rPr lang="ko-KR" altLang="en-US" dirty="0"/>
              <a:t>를 이용해서 자원을 지정하고 해당 자원의 상태에 대한 조작을 서버에 요청함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342900" indent="-342900">
              <a:buAutoNum type="arabicPeriod" startAt="2"/>
            </a:pPr>
            <a:r>
              <a:rPr lang="ko-KR" altLang="en-US" b="1" dirty="0"/>
              <a:t>행위</a:t>
            </a:r>
            <a:r>
              <a:rPr lang="en-US" altLang="ko-KR" b="1" dirty="0"/>
              <a:t>:HTTP</a:t>
            </a:r>
            <a:r>
              <a:rPr lang="ko-KR" altLang="en-US" b="1" dirty="0"/>
              <a:t> </a:t>
            </a:r>
            <a:r>
              <a:rPr lang="en-US" altLang="ko-KR" b="1" dirty="0"/>
              <a:t>METHOD</a:t>
            </a:r>
          </a:p>
          <a:p>
            <a:pPr lvl="1"/>
            <a:r>
              <a:rPr lang="en-US" altLang="ko-KR" dirty="0"/>
              <a:t>	</a:t>
            </a:r>
            <a:r>
              <a:rPr lang="ko-KR" altLang="en-US" dirty="0"/>
              <a:t> 〮 </a:t>
            </a:r>
            <a:r>
              <a:rPr lang="en-US" altLang="ko-KR" dirty="0"/>
              <a:t>HTTP</a:t>
            </a:r>
            <a:r>
              <a:rPr lang="ko-KR" altLang="en-US" dirty="0"/>
              <a:t>프로토콜의 </a:t>
            </a:r>
            <a:r>
              <a:rPr lang="en-US" altLang="ko-KR" dirty="0"/>
              <a:t>Method </a:t>
            </a:r>
            <a:r>
              <a:rPr lang="ko-KR" altLang="en-US" dirty="0"/>
              <a:t>사용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342900" indent="-342900">
              <a:buAutoNum type="arabicPeriod" startAt="3"/>
            </a:pPr>
            <a:r>
              <a:rPr lang="ko-KR" altLang="en-US" b="1" dirty="0"/>
              <a:t>표현</a:t>
            </a:r>
            <a:endParaRPr lang="en-US" altLang="ko-KR" b="1" dirty="0"/>
          </a:p>
          <a:p>
            <a:pPr lvl="1"/>
            <a:r>
              <a:rPr lang="en-US" altLang="ko-KR" dirty="0"/>
              <a:t>	</a:t>
            </a:r>
            <a:r>
              <a:rPr lang="ko-KR" altLang="en-US" dirty="0"/>
              <a:t> 〮 클라이언트가 자원의 상태에 대한 조작을 요청하면 </a:t>
            </a:r>
            <a:r>
              <a:rPr lang="en-US" altLang="ko-KR" dirty="0"/>
              <a:t>Server</a:t>
            </a:r>
            <a:r>
              <a:rPr lang="ko-KR" altLang="en-US" dirty="0"/>
              <a:t>는 이에 대한 적절한 응답을 보냄</a:t>
            </a:r>
            <a:endParaRPr lang="en-US" altLang="ko-KR" dirty="0"/>
          </a:p>
          <a:p>
            <a:pPr lvl="1"/>
            <a:r>
              <a:rPr lang="en-US" altLang="ko-KR" dirty="0"/>
              <a:t>	</a:t>
            </a:r>
            <a:r>
              <a:rPr lang="ko-KR" altLang="en-US" dirty="0"/>
              <a:t> 〮 </a:t>
            </a:r>
            <a:r>
              <a:rPr lang="en-US" altLang="ko-KR" dirty="0"/>
              <a:t>REST</a:t>
            </a:r>
            <a:r>
              <a:rPr lang="ko-KR" altLang="en-US" dirty="0"/>
              <a:t>에서 하나의 자원은 </a:t>
            </a:r>
            <a:r>
              <a:rPr lang="en-US" altLang="ko-KR" dirty="0"/>
              <a:t>JSON,XML,TEXT,RSS</a:t>
            </a:r>
            <a:r>
              <a:rPr lang="ko-KR" altLang="en-US" dirty="0"/>
              <a:t>등 </a:t>
            </a:r>
            <a:r>
              <a:rPr lang="ko-KR" altLang="en-US" dirty="0" err="1"/>
              <a:t>여러형태의</a:t>
            </a:r>
            <a:r>
              <a:rPr lang="ko-KR" altLang="en-US" dirty="0"/>
              <a:t> </a:t>
            </a:r>
            <a:r>
              <a:rPr lang="en-US" altLang="ko-KR" dirty="0"/>
              <a:t>Representation</a:t>
            </a:r>
            <a:r>
              <a:rPr lang="ko-KR" altLang="en-US" dirty="0"/>
              <a:t>으로 나타내어 질 수 </a:t>
            </a:r>
            <a:r>
              <a:rPr lang="en-US" altLang="ko-KR" dirty="0"/>
              <a:t>	   </a:t>
            </a:r>
            <a:r>
              <a:rPr lang="ko-KR" altLang="en-US" dirty="0"/>
              <a:t>있다</a:t>
            </a:r>
          </a:p>
        </p:txBody>
      </p:sp>
    </p:spTree>
    <p:extLst>
      <p:ext uri="{BB962C8B-B14F-4D97-AF65-F5344CB8AC3E}">
        <p14:creationId xmlns:p14="http://schemas.microsoft.com/office/powerpoint/2010/main" val="2462827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REST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REST</a:t>
            </a:r>
            <a:r>
              <a:rPr lang="ko-KR" altLang="en-US" sz="2800" dirty="0"/>
              <a:t> 특징</a:t>
            </a:r>
            <a:endParaRPr lang="en-US" altLang="ko-KR" sz="2800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b="1" dirty="0"/>
              <a:t>Client-Server</a:t>
            </a:r>
            <a:r>
              <a:rPr lang="ko-KR" altLang="en-US" b="1" dirty="0"/>
              <a:t> 구조</a:t>
            </a:r>
            <a:endParaRPr lang="en-US" altLang="ko-KR" b="1" dirty="0"/>
          </a:p>
          <a:p>
            <a:r>
              <a:rPr lang="en-US" altLang="ko-KR" dirty="0"/>
              <a:t>	 </a:t>
            </a:r>
            <a:r>
              <a:rPr lang="ko-KR" altLang="en-US" dirty="0"/>
              <a:t>〮 자원이 있는 쪽이 </a:t>
            </a:r>
            <a:r>
              <a:rPr lang="en-US" altLang="ko-KR" dirty="0"/>
              <a:t>Server,</a:t>
            </a:r>
            <a:r>
              <a:rPr lang="ko-KR" altLang="en-US" dirty="0"/>
              <a:t>자원을 요청하는 쪽이 </a:t>
            </a:r>
            <a:r>
              <a:rPr lang="en-US" altLang="ko-KR" dirty="0"/>
              <a:t>Client</a:t>
            </a:r>
            <a:r>
              <a:rPr lang="ko-KR" altLang="en-US" dirty="0"/>
              <a:t>가 됨</a:t>
            </a:r>
            <a:endParaRPr lang="en-US" altLang="ko-KR" dirty="0"/>
          </a:p>
          <a:p>
            <a:pPr lvl="1"/>
            <a:r>
              <a:rPr lang="en-US" altLang="ko-KR" dirty="0"/>
              <a:t>		- REST Server: API</a:t>
            </a:r>
            <a:r>
              <a:rPr lang="ko-KR" altLang="en-US" dirty="0"/>
              <a:t>를 제공하고 비즈니스 로직 처리 및 저장을 책임짐</a:t>
            </a:r>
            <a:endParaRPr lang="en-US" altLang="ko-KR" dirty="0"/>
          </a:p>
          <a:p>
            <a:pPr lvl="1"/>
            <a:r>
              <a:rPr lang="en-US" altLang="ko-KR" dirty="0"/>
              <a:t>		- Client:</a:t>
            </a:r>
            <a:r>
              <a:rPr lang="ko-KR" altLang="en-US" dirty="0"/>
              <a:t>사용자 인증이나 </a:t>
            </a:r>
            <a:r>
              <a:rPr lang="en-US" altLang="ko-KR" dirty="0"/>
              <a:t>context(</a:t>
            </a:r>
            <a:r>
              <a:rPr lang="ko-KR" altLang="en-US" dirty="0"/>
              <a:t>세션</a:t>
            </a:r>
            <a:r>
              <a:rPr lang="en-US" altLang="ko-KR" dirty="0"/>
              <a:t>, </a:t>
            </a:r>
            <a:r>
              <a:rPr lang="ko-KR" altLang="en-US" dirty="0"/>
              <a:t>로그인 정보</a:t>
            </a:r>
            <a:r>
              <a:rPr lang="en-US" altLang="ko-KR" dirty="0"/>
              <a:t>)</a:t>
            </a:r>
            <a:r>
              <a:rPr lang="ko-KR" altLang="en-US" dirty="0"/>
              <a:t>등을 직접 관리하고 책임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〮 서로간 의존성이 줄어듦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en-US" altLang="ko-KR" b="1" dirty="0"/>
              <a:t>Stateless(</a:t>
            </a:r>
            <a:r>
              <a:rPr lang="ko-KR" altLang="en-US" b="1" dirty="0" err="1"/>
              <a:t>무상태</a:t>
            </a:r>
            <a:r>
              <a:rPr lang="en-US" altLang="ko-KR" b="1" dirty="0"/>
              <a:t>)</a:t>
            </a:r>
          </a:p>
          <a:p>
            <a:r>
              <a:rPr lang="en-US" altLang="ko-KR" dirty="0"/>
              <a:t>	</a:t>
            </a:r>
            <a:r>
              <a:rPr lang="ko-KR" altLang="en-US" dirty="0"/>
              <a:t>〮 </a:t>
            </a:r>
            <a:r>
              <a:rPr lang="en-US" altLang="ko-KR" dirty="0"/>
              <a:t>HTTP</a:t>
            </a:r>
            <a:r>
              <a:rPr lang="ko-KR" altLang="en-US" dirty="0"/>
              <a:t>프로토콜은 </a:t>
            </a:r>
            <a:r>
              <a:rPr lang="ko-KR" altLang="en-US" dirty="0" err="1"/>
              <a:t>무상태</a:t>
            </a:r>
            <a:r>
              <a:rPr lang="ko-KR" altLang="en-US" dirty="0"/>
              <a:t> 프로토콜이므로 </a:t>
            </a:r>
            <a:r>
              <a:rPr lang="en-US" altLang="ko-KR" dirty="0"/>
              <a:t>REST </a:t>
            </a:r>
            <a:r>
              <a:rPr lang="ko-KR" altLang="en-US" dirty="0"/>
              <a:t>역시 무상태성을 가짐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 〮클라이언트의 </a:t>
            </a:r>
            <a:r>
              <a:rPr lang="en-US" altLang="ko-KR" dirty="0"/>
              <a:t>context</a:t>
            </a:r>
            <a:r>
              <a:rPr lang="ko-KR" altLang="en-US" dirty="0"/>
              <a:t>를  서버에 저장하지 않음</a:t>
            </a:r>
            <a:endParaRPr lang="en-US" altLang="ko-KR" dirty="0"/>
          </a:p>
          <a:p>
            <a:r>
              <a:rPr lang="en-US" altLang="ko-KR" dirty="0"/>
              <a:t>		-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세션과 쿠키와 같은 </a:t>
            </a:r>
            <a:r>
              <a:rPr lang="en-US" altLang="ko-KR" dirty="0"/>
              <a:t>context</a:t>
            </a:r>
            <a:r>
              <a:rPr lang="ko-KR" altLang="en-US" dirty="0"/>
              <a:t>정보를 </a:t>
            </a:r>
            <a:r>
              <a:rPr lang="ko-KR" altLang="en-US" dirty="0" err="1"/>
              <a:t>신경쓰지</a:t>
            </a:r>
            <a:r>
              <a:rPr lang="ko-KR" altLang="en-US" dirty="0"/>
              <a:t> 않아도 되므로 구현이 단순해짐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 〮 </a:t>
            </a:r>
            <a:r>
              <a:rPr lang="en-US" altLang="ko-KR" dirty="0"/>
              <a:t>Server</a:t>
            </a:r>
            <a:r>
              <a:rPr lang="ko-KR" altLang="en-US" dirty="0"/>
              <a:t>는 각각의 요청을 완전히 별개의 것으로 인식하고 처리</a:t>
            </a:r>
            <a:endParaRPr lang="en-US" altLang="ko-KR" dirty="0"/>
          </a:p>
          <a:p>
            <a:r>
              <a:rPr lang="en-US" altLang="ko-KR" dirty="0"/>
              <a:t>		- </a:t>
            </a:r>
            <a:r>
              <a:rPr lang="ko-KR" altLang="en-US" dirty="0"/>
              <a:t>각 </a:t>
            </a:r>
            <a:r>
              <a:rPr lang="en-US" altLang="ko-KR" dirty="0"/>
              <a:t>API</a:t>
            </a:r>
            <a:r>
              <a:rPr lang="ko-KR" altLang="en-US" dirty="0"/>
              <a:t>서버는 </a:t>
            </a:r>
            <a:r>
              <a:rPr lang="en-US" altLang="ko-KR" dirty="0"/>
              <a:t>Client</a:t>
            </a:r>
            <a:r>
              <a:rPr lang="ko-KR" altLang="en-US" dirty="0"/>
              <a:t>요청만을 단순 처리함</a:t>
            </a:r>
            <a:endParaRPr lang="en-US" altLang="ko-KR" dirty="0"/>
          </a:p>
          <a:p>
            <a:r>
              <a:rPr lang="en-US" altLang="ko-KR" dirty="0"/>
              <a:t>		- </a:t>
            </a:r>
            <a:r>
              <a:rPr lang="ko-KR" altLang="en-US" dirty="0"/>
              <a:t>이전요청이 다음 요청 처리에 연관되어서는 안됨</a:t>
            </a:r>
            <a:endParaRPr lang="en-US" altLang="ko-KR" dirty="0"/>
          </a:p>
          <a:p>
            <a:r>
              <a:rPr lang="en-US" altLang="ko-KR" dirty="0"/>
              <a:t>		- Server</a:t>
            </a:r>
            <a:r>
              <a:rPr lang="ko-KR" altLang="en-US" dirty="0"/>
              <a:t>의 처리방식에 일관성을 부여하고 부담이 줄어들며</a:t>
            </a:r>
            <a:r>
              <a:rPr lang="en-US" altLang="ko-KR" dirty="0"/>
              <a:t>,</a:t>
            </a:r>
            <a:r>
              <a:rPr lang="ko-KR" altLang="en-US" dirty="0"/>
              <a:t>서비스의 자유도가 높아짐</a:t>
            </a:r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7469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REST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 </a:t>
            </a:r>
            <a:r>
              <a:rPr lang="en-US" altLang="ko-KR" b="1" dirty="0"/>
              <a:t>Cacheable(</a:t>
            </a:r>
            <a:r>
              <a:rPr lang="ko-KR" altLang="en-US" b="1" dirty="0"/>
              <a:t>캐시처리기능</a:t>
            </a:r>
            <a:r>
              <a:rPr lang="en-US" altLang="ko-KR" b="1" dirty="0"/>
              <a:t>)</a:t>
            </a:r>
          </a:p>
          <a:p>
            <a:r>
              <a:rPr lang="en-US" altLang="ko-KR" dirty="0"/>
              <a:t>	</a:t>
            </a:r>
            <a:r>
              <a:rPr lang="ko-KR" altLang="en-US" dirty="0"/>
              <a:t> 〮 웹 표준 </a:t>
            </a:r>
            <a:r>
              <a:rPr lang="en-US" altLang="ko-KR" dirty="0"/>
              <a:t>HTTP</a:t>
            </a:r>
            <a:r>
              <a:rPr lang="ko-KR" altLang="en-US" dirty="0"/>
              <a:t>프로토콜을 그대로 사용하므로 웹에서 사용하는 기존의 인프라를 그대로 활용할 수 </a:t>
            </a:r>
            <a:r>
              <a:rPr lang="en-US" altLang="ko-KR" dirty="0"/>
              <a:t>	   </a:t>
            </a:r>
            <a:r>
              <a:rPr lang="ko-KR" altLang="en-US" dirty="0"/>
              <a:t>있음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 〮 즉</a:t>
            </a:r>
            <a:r>
              <a:rPr lang="en-US" altLang="ko-KR" dirty="0"/>
              <a:t>, HTTP</a:t>
            </a:r>
            <a:r>
              <a:rPr lang="ko-KR" altLang="en-US" dirty="0"/>
              <a:t>가 가진 가장 강력한 특징 중 하나인 </a:t>
            </a:r>
            <a:r>
              <a:rPr lang="ko-KR" altLang="en-US" dirty="0" err="1"/>
              <a:t>캐싱기능을</a:t>
            </a:r>
            <a:r>
              <a:rPr lang="ko-KR" altLang="en-US" dirty="0"/>
              <a:t> 적용할 수 있음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 〮 </a:t>
            </a:r>
            <a:r>
              <a:rPr lang="en-US" altLang="ko-KR" dirty="0"/>
              <a:t>HTTP</a:t>
            </a:r>
            <a:r>
              <a:rPr lang="ko-KR" altLang="en-US" dirty="0"/>
              <a:t>프로토콜 표준에서 사용하는 </a:t>
            </a:r>
            <a:r>
              <a:rPr lang="en-US" altLang="ko-KR" dirty="0"/>
              <a:t>Last-Modified</a:t>
            </a:r>
            <a:r>
              <a:rPr lang="ko-KR" altLang="en-US" dirty="0"/>
              <a:t>태그나 </a:t>
            </a:r>
            <a:r>
              <a:rPr lang="en-US" altLang="ko-KR" dirty="0"/>
              <a:t>E-Tag</a:t>
            </a:r>
            <a:r>
              <a:rPr lang="ko-KR" altLang="en-US" dirty="0"/>
              <a:t>를 이용하면 </a:t>
            </a:r>
            <a:r>
              <a:rPr lang="ko-KR" altLang="en-US" dirty="0" err="1"/>
              <a:t>캐싱</a:t>
            </a:r>
            <a:r>
              <a:rPr lang="ko-KR" altLang="en-US" dirty="0"/>
              <a:t> 구현이 가능함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 〮 대량의 요청을 효율적으로 처리하기 위해 캐시가 요구됨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 〮 캐시 사용을 통해 응답시간이 빨라지고 </a:t>
            </a:r>
            <a:r>
              <a:rPr lang="en-US" altLang="ko-KR" dirty="0"/>
              <a:t>REST Server</a:t>
            </a:r>
            <a:r>
              <a:rPr lang="ko-KR" altLang="en-US" dirty="0"/>
              <a:t>트랜잭션이 발생하지 않으므로 전체 응답시간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	   </a:t>
            </a:r>
            <a:r>
              <a:rPr lang="ko-KR" altLang="en-US" dirty="0"/>
              <a:t>성능</a:t>
            </a:r>
            <a:r>
              <a:rPr lang="en-US" altLang="ko-KR" dirty="0"/>
              <a:t>,</a:t>
            </a:r>
            <a:r>
              <a:rPr lang="ko-KR" altLang="en-US" dirty="0"/>
              <a:t>서버의 </a:t>
            </a:r>
            <a:r>
              <a:rPr lang="ko-KR" altLang="en-US" dirty="0" err="1"/>
              <a:t>자원이용률을</a:t>
            </a:r>
            <a:r>
              <a:rPr lang="ko-KR" altLang="en-US" dirty="0"/>
              <a:t> 향상시킬 수 있음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4. </a:t>
            </a:r>
            <a:r>
              <a:rPr lang="en-US" altLang="ko-KR" b="1" dirty="0"/>
              <a:t>Self-descriptiveness(</a:t>
            </a:r>
            <a:r>
              <a:rPr lang="ko-KR" altLang="en-US" b="1" dirty="0"/>
              <a:t>자체 표현 구조</a:t>
            </a:r>
            <a:r>
              <a:rPr lang="en-US" altLang="ko-KR" b="1" dirty="0"/>
              <a:t>)</a:t>
            </a:r>
          </a:p>
          <a:p>
            <a:r>
              <a:rPr lang="en-US" altLang="ko-KR" dirty="0"/>
              <a:t>	</a:t>
            </a:r>
            <a:r>
              <a:rPr lang="ko-KR" altLang="en-US" dirty="0"/>
              <a:t> 〮 동사</a:t>
            </a:r>
            <a:r>
              <a:rPr lang="en-US" altLang="ko-KR" dirty="0"/>
              <a:t>(Method)+</a:t>
            </a:r>
            <a:r>
              <a:rPr lang="ko-KR" altLang="en-US" dirty="0"/>
              <a:t>명사</a:t>
            </a:r>
            <a:r>
              <a:rPr lang="en-US" altLang="ko-KR" dirty="0"/>
              <a:t>(URI)</a:t>
            </a:r>
            <a:r>
              <a:rPr lang="ko-KR" altLang="en-US" dirty="0"/>
              <a:t>로 이루어져 있어 </a:t>
            </a:r>
            <a:r>
              <a:rPr lang="en-US" altLang="ko-KR" dirty="0"/>
              <a:t>REST API</a:t>
            </a:r>
            <a:r>
              <a:rPr lang="ko-KR" altLang="en-US" dirty="0"/>
              <a:t>메시지만 보고도 쉽게 이해할 수 있는 자체 표</a:t>
            </a:r>
            <a:r>
              <a:rPr lang="en-US" altLang="ko-KR" dirty="0"/>
              <a:t>	   </a:t>
            </a:r>
            <a:r>
              <a:rPr lang="ko-KR" altLang="en-US" dirty="0"/>
              <a:t>현 구조로 되어있음</a:t>
            </a:r>
          </a:p>
        </p:txBody>
      </p:sp>
    </p:spTree>
    <p:extLst>
      <p:ext uri="{BB962C8B-B14F-4D97-AF65-F5344CB8AC3E}">
        <p14:creationId xmlns:p14="http://schemas.microsoft.com/office/powerpoint/2010/main" val="648109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REST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5. </a:t>
            </a:r>
            <a:r>
              <a:rPr lang="ko-KR" altLang="en-US" b="1" dirty="0"/>
              <a:t>계층형 구조</a:t>
            </a:r>
            <a:endParaRPr lang="en-US" altLang="ko-KR" b="1" dirty="0"/>
          </a:p>
          <a:p>
            <a:r>
              <a:rPr lang="en-US" altLang="ko-KR" dirty="0"/>
              <a:t>	</a:t>
            </a:r>
            <a:r>
              <a:rPr lang="ko-KR" altLang="en-US" dirty="0"/>
              <a:t> 〮 </a:t>
            </a:r>
            <a:r>
              <a:rPr lang="en-US" altLang="ko-KR" dirty="0"/>
              <a:t>REST</a:t>
            </a:r>
            <a:r>
              <a:rPr lang="ko-KR" altLang="en-US" dirty="0"/>
              <a:t>서버는 다중계층으로 구성될 수 있으며</a:t>
            </a:r>
            <a:r>
              <a:rPr lang="en-US" altLang="ko-KR" dirty="0"/>
              <a:t> </a:t>
            </a:r>
            <a:r>
              <a:rPr lang="ko-KR" altLang="en-US" dirty="0"/>
              <a:t>보안</a:t>
            </a:r>
            <a:r>
              <a:rPr lang="en-US" altLang="ko-KR" dirty="0"/>
              <a:t>,</a:t>
            </a:r>
            <a:r>
              <a:rPr lang="ko-KR" altLang="en-US" dirty="0" err="1"/>
              <a:t>로드밸런싱</a:t>
            </a:r>
            <a:r>
              <a:rPr lang="en-US" altLang="ko-KR" dirty="0"/>
              <a:t>,</a:t>
            </a:r>
            <a:r>
              <a:rPr lang="ko-KR" altLang="en-US" dirty="0"/>
              <a:t>암호화 계층을 추가해 구조상의 유연</a:t>
            </a:r>
            <a:r>
              <a:rPr lang="en-US" altLang="ko-KR" dirty="0"/>
              <a:t>	  </a:t>
            </a:r>
            <a:r>
              <a:rPr lang="ko-KR" altLang="en-US" dirty="0"/>
              <a:t>성을 둘 수 있고 </a:t>
            </a:r>
            <a:r>
              <a:rPr lang="en-US" altLang="ko-KR" dirty="0"/>
              <a:t>PROXY,</a:t>
            </a:r>
            <a:r>
              <a:rPr lang="ko-KR" altLang="en-US" dirty="0"/>
              <a:t>게이트웨이 같은 네트워크 기반의 중간매체를 사용할 수 있게 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6. </a:t>
            </a:r>
            <a:r>
              <a:rPr lang="ko-KR" altLang="en-US" b="1" dirty="0"/>
              <a:t>인터페이스 일관성</a:t>
            </a:r>
            <a:endParaRPr lang="en-US" altLang="ko-KR" b="1" dirty="0"/>
          </a:p>
          <a:p>
            <a:r>
              <a:rPr lang="en-US" altLang="ko-KR" dirty="0"/>
              <a:t>	</a:t>
            </a:r>
            <a:r>
              <a:rPr lang="ko-KR" altLang="en-US" dirty="0"/>
              <a:t> 〮 </a:t>
            </a:r>
            <a:r>
              <a:rPr lang="en-US" altLang="ko-KR" dirty="0"/>
              <a:t>URI</a:t>
            </a:r>
            <a:r>
              <a:rPr lang="ko-KR" altLang="en-US" dirty="0"/>
              <a:t>로 지정한 자원에 대한 조작을 통일되고 한정적인 인터페이스로 수행함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 〮 </a:t>
            </a:r>
            <a:r>
              <a:rPr lang="en-US" altLang="ko-KR" dirty="0"/>
              <a:t>HTTP</a:t>
            </a:r>
            <a:r>
              <a:rPr lang="ko-KR" altLang="en-US" dirty="0"/>
              <a:t>표준에만 따른다면 모든 플랫폼에 </a:t>
            </a:r>
            <a:r>
              <a:rPr lang="ko-KR" altLang="en-US" dirty="0" err="1"/>
              <a:t>사용가능함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8830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REST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271555" y="989303"/>
            <a:ext cx="1136013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REST</a:t>
            </a:r>
            <a:r>
              <a:rPr lang="ko-KR" altLang="en-US" sz="2800" dirty="0"/>
              <a:t>의 장점</a:t>
            </a:r>
            <a:endParaRPr lang="en-US" altLang="ko-KR" sz="2800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1)(</a:t>
            </a:r>
            <a:r>
              <a:rPr lang="ko-KR" altLang="en-US" dirty="0" err="1"/>
              <a:t>쉬운사용</a:t>
            </a:r>
            <a:r>
              <a:rPr lang="en-US" altLang="ko-KR" dirty="0"/>
              <a:t>)HTTP</a:t>
            </a:r>
            <a:r>
              <a:rPr lang="ko-KR" altLang="en-US" dirty="0"/>
              <a:t>프로토콜의 인프라를 그대로 사용하므로 </a:t>
            </a:r>
            <a:r>
              <a:rPr lang="en-US" altLang="ko-KR" dirty="0"/>
              <a:t>REST API</a:t>
            </a:r>
            <a:r>
              <a:rPr lang="ko-KR" altLang="en-US" dirty="0"/>
              <a:t>사용을 위한 별도의 인프라를 구축할 필 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 요가 없음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2) HTTP</a:t>
            </a:r>
            <a:r>
              <a:rPr lang="ko-KR" altLang="en-US" dirty="0"/>
              <a:t>프로토콜의 표준을 최대한 활용하여 여러 추가적인 장점을 함께 가져갈 수 있게 </a:t>
            </a:r>
            <a:r>
              <a:rPr lang="ko-KR" altLang="en-US" dirty="0" err="1"/>
              <a:t>해줌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 〮 </a:t>
            </a:r>
            <a:r>
              <a:rPr lang="en-US" altLang="ko-KR" dirty="0"/>
              <a:t>HTTP </a:t>
            </a:r>
            <a:r>
              <a:rPr lang="ko-KR" altLang="en-US" dirty="0"/>
              <a:t>프로토콜</a:t>
            </a:r>
            <a:r>
              <a:rPr lang="en-US" altLang="ko-KR" dirty="0"/>
              <a:t>:HTTP</a:t>
            </a:r>
            <a:r>
              <a:rPr lang="ko-KR" altLang="en-US" dirty="0"/>
              <a:t>는 인터넷 상에서 데이터를 주고 받기 위한 서버</a:t>
            </a:r>
            <a:r>
              <a:rPr lang="en-US" altLang="ko-KR" dirty="0"/>
              <a:t>/</a:t>
            </a:r>
            <a:r>
              <a:rPr lang="ko-KR" altLang="en-US" dirty="0"/>
              <a:t>클라이언트 모델을 따르는 </a:t>
            </a:r>
            <a:r>
              <a:rPr lang="en-US" altLang="ko-KR" dirty="0"/>
              <a:t>	  </a:t>
            </a:r>
            <a:r>
              <a:rPr lang="ko-KR" altLang="en-US" dirty="0"/>
              <a:t>프로토콜</a:t>
            </a:r>
            <a:r>
              <a:rPr lang="en-US" altLang="ko-KR" dirty="0"/>
              <a:t>, </a:t>
            </a:r>
            <a:r>
              <a:rPr lang="ko-KR" altLang="en-US" dirty="0"/>
              <a:t>어떤 종류의 </a:t>
            </a:r>
            <a:r>
              <a:rPr lang="ko-KR" altLang="en-US" dirty="0" err="1"/>
              <a:t>데이터든지</a:t>
            </a:r>
            <a:r>
              <a:rPr lang="ko-KR" altLang="en-US" dirty="0"/>
              <a:t> 전송할 수 있도록 설계됨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3)HTTP </a:t>
            </a:r>
            <a:r>
              <a:rPr lang="ko-KR" altLang="en-US" dirty="0"/>
              <a:t>표준</a:t>
            </a:r>
            <a:r>
              <a:rPr lang="en-US" altLang="ko-KR" dirty="0"/>
              <a:t> </a:t>
            </a:r>
            <a:r>
              <a:rPr lang="ko-KR" altLang="en-US" dirty="0"/>
              <a:t>프로토콜에</a:t>
            </a:r>
            <a:r>
              <a:rPr lang="en-US" altLang="ko-KR" dirty="0"/>
              <a:t> </a:t>
            </a:r>
            <a:r>
              <a:rPr lang="ko-KR" altLang="en-US" dirty="0"/>
              <a:t>따르는 모든 플랫폼에서 사용이 가능함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4)</a:t>
            </a:r>
            <a:r>
              <a:rPr lang="ko-KR" altLang="en-US" dirty="0"/>
              <a:t>명확하게 나타내므로 의도하는 바를 쉽게 파악 가능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5)</a:t>
            </a:r>
            <a:r>
              <a:rPr lang="ko-KR" altLang="en-US" dirty="0"/>
              <a:t>서버와 클라이언트의 역할을 명확하게 분리함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6)</a:t>
            </a:r>
            <a:r>
              <a:rPr lang="ko-KR" altLang="en-US" dirty="0"/>
              <a:t>여러가지 서비스 디자인에서 생길 수 있는 문제를 최소화함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4141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REST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REST</a:t>
            </a:r>
            <a:r>
              <a:rPr lang="ko-KR" altLang="en-US" sz="2800" dirty="0"/>
              <a:t>의 단점</a:t>
            </a:r>
            <a:endParaRPr lang="en-US" altLang="ko-KR" sz="2800" dirty="0"/>
          </a:p>
          <a:p>
            <a:endParaRPr lang="en-US" altLang="ko-KR" dirty="0"/>
          </a:p>
          <a:p>
            <a:r>
              <a:rPr lang="en-US" altLang="ko-KR" dirty="0"/>
              <a:t>1)</a:t>
            </a:r>
            <a:r>
              <a:rPr lang="ko-KR" altLang="en-US" dirty="0"/>
              <a:t>표준이 존재하지 않음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 〮 </a:t>
            </a:r>
            <a:r>
              <a:rPr lang="en-US" altLang="ko-KR" dirty="0"/>
              <a:t>REST</a:t>
            </a:r>
            <a:r>
              <a:rPr lang="ko-KR" altLang="en-US" dirty="0"/>
              <a:t>는 설계가이드일 뿐이지 표준이 아님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2)</a:t>
            </a:r>
            <a:r>
              <a:rPr lang="ko-KR" altLang="en-US" dirty="0"/>
              <a:t>사용할 수 있는 메소드가 </a:t>
            </a:r>
            <a:r>
              <a:rPr lang="en-US" altLang="ko-KR" dirty="0"/>
              <a:t>4</a:t>
            </a:r>
            <a:r>
              <a:rPr lang="ko-KR" altLang="en-US" dirty="0"/>
              <a:t>가지 밖에 없음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 〮 </a:t>
            </a:r>
            <a:r>
              <a:rPr lang="en-US" altLang="ko-KR" dirty="0"/>
              <a:t>HTTP METHOD</a:t>
            </a:r>
            <a:r>
              <a:rPr lang="ko-KR" altLang="en-US" dirty="0"/>
              <a:t> 형태가 제한적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62231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REST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SOAP</a:t>
            </a:r>
            <a:r>
              <a:rPr lang="ko-KR" altLang="en-US" sz="2800" dirty="0"/>
              <a:t> </a:t>
            </a:r>
            <a:r>
              <a:rPr lang="en-US" altLang="ko-KR" sz="2800" dirty="0"/>
              <a:t>vs</a:t>
            </a:r>
            <a:r>
              <a:rPr lang="ko-KR" altLang="en-US" sz="2800" dirty="0"/>
              <a:t> </a:t>
            </a:r>
            <a:r>
              <a:rPr lang="en-US" altLang="ko-KR" sz="2800" dirty="0"/>
              <a:t>REST</a:t>
            </a:r>
          </a:p>
          <a:p>
            <a:endParaRPr lang="en-US" altLang="ko-KR" dirty="0"/>
          </a:p>
          <a:p>
            <a:r>
              <a:rPr lang="en-US" altLang="ko-KR" sz="2000" dirty="0"/>
              <a:t>SOAP</a:t>
            </a:r>
          </a:p>
          <a:p>
            <a:endParaRPr lang="en-US" altLang="ko-KR" sz="2000" dirty="0"/>
          </a:p>
          <a:p>
            <a:endParaRPr lang="en-US" altLang="ko-KR" dirty="0"/>
          </a:p>
          <a:p>
            <a:r>
              <a:rPr lang="ko-KR" altLang="en-US" dirty="0"/>
              <a:t>일반적으로 널리 알려진 </a:t>
            </a:r>
            <a:r>
              <a:rPr lang="en-US" altLang="ko-KR" dirty="0"/>
              <a:t>HTTP,HTTPS,SMTP</a:t>
            </a:r>
            <a:r>
              <a:rPr lang="ko-KR" altLang="en-US" dirty="0"/>
              <a:t>등을 통해 </a:t>
            </a:r>
            <a:r>
              <a:rPr lang="en-US" altLang="ko-KR" dirty="0"/>
              <a:t>XML</a:t>
            </a:r>
            <a:r>
              <a:rPr lang="ko-KR" altLang="en-US" dirty="0"/>
              <a:t>기반의 메시지를 컴퓨터 네트워크 상에서 교환하는 프로토콜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웹서비스에서 기본적인 메시지를 전달하는 기반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XML</a:t>
            </a:r>
            <a:r>
              <a:rPr lang="ko-KR" altLang="en-US" dirty="0"/>
              <a:t>을 이용해서 분산처리 환경에서 정보교환을 쉽게 할 수 있도록 </a:t>
            </a:r>
            <a:r>
              <a:rPr lang="ko-KR" altLang="en-US" dirty="0" err="1"/>
              <a:t>도와줌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플랫폼에 독립적</a:t>
            </a:r>
            <a:r>
              <a:rPr lang="en-US" altLang="ko-KR" dirty="0"/>
              <a:t>, </a:t>
            </a:r>
            <a:r>
              <a:rPr lang="ko-KR" altLang="en-US" dirty="0"/>
              <a:t>프로그래밍 언어에도 독립적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HTTP</a:t>
            </a:r>
            <a:r>
              <a:rPr lang="ko-KR" altLang="en-US" dirty="0"/>
              <a:t>를 이용하므로 </a:t>
            </a:r>
            <a:r>
              <a:rPr lang="en-US" altLang="ko-KR" dirty="0"/>
              <a:t>Proxy</a:t>
            </a:r>
            <a:r>
              <a:rPr lang="ko-KR" altLang="en-US" dirty="0"/>
              <a:t>와 방화벽에 제약을 받지 않고 쉽게 통신가능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63521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REST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SOAP</a:t>
            </a:r>
            <a:r>
              <a:rPr lang="ko-KR" altLang="en-US" sz="2800" dirty="0"/>
              <a:t>과 </a:t>
            </a:r>
            <a:r>
              <a:rPr lang="en-US" altLang="ko-KR" sz="2800" dirty="0"/>
              <a:t>REST</a:t>
            </a:r>
            <a:r>
              <a:rPr lang="ko-KR" altLang="en-US" sz="2800" dirty="0"/>
              <a:t>의 차이</a:t>
            </a:r>
            <a:endParaRPr lang="en-US" altLang="ko-KR" sz="2800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85685B2-CD90-414B-8CAE-AEF2368742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129" y="1690047"/>
            <a:ext cx="5804198" cy="478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197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RESTful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RESTful</a:t>
            </a:r>
            <a:r>
              <a:rPr lang="ko-KR" altLang="en-US" sz="2800" dirty="0"/>
              <a:t>이란</a:t>
            </a:r>
            <a:endParaRPr lang="en-US" altLang="ko-KR" sz="2800" dirty="0"/>
          </a:p>
          <a:p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RESTful</a:t>
            </a:r>
            <a:r>
              <a:rPr lang="ko-KR" altLang="en-US" dirty="0"/>
              <a:t>은 일반적으로 </a:t>
            </a:r>
            <a:r>
              <a:rPr lang="en-US" altLang="ko-KR" dirty="0"/>
              <a:t>REST</a:t>
            </a:r>
            <a:r>
              <a:rPr lang="ko-KR" altLang="en-US" dirty="0"/>
              <a:t>라는 아키텍처를 구현하는 </a:t>
            </a:r>
            <a:r>
              <a:rPr lang="ko-KR" altLang="en-US" b="1" dirty="0">
                <a:solidFill>
                  <a:srgbClr val="FF0000"/>
                </a:solidFill>
              </a:rPr>
              <a:t>웹서비스</a:t>
            </a:r>
            <a:r>
              <a:rPr lang="ko-KR" altLang="en-US" dirty="0"/>
              <a:t>를 나타내기 위해 사용되는 용어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 〮  </a:t>
            </a:r>
            <a:r>
              <a:rPr lang="en-US" altLang="ko-KR" dirty="0"/>
              <a:t>‘REST API’</a:t>
            </a:r>
            <a:r>
              <a:rPr lang="ko-KR" altLang="en-US" dirty="0"/>
              <a:t>를 제공하는 웹 서비스를 </a:t>
            </a:r>
            <a:r>
              <a:rPr lang="en-US" altLang="ko-KR" dirty="0"/>
              <a:t>‘RESTful’</a:t>
            </a:r>
            <a:r>
              <a:rPr lang="ko-KR" altLang="en-US" dirty="0"/>
              <a:t>하다고 할 수 있음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 RESTful</a:t>
            </a:r>
            <a:r>
              <a:rPr lang="ko-KR" altLang="en-US" dirty="0"/>
              <a:t>은 </a:t>
            </a:r>
            <a:r>
              <a:rPr lang="en-US" altLang="ko-KR" dirty="0"/>
              <a:t>REST</a:t>
            </a:r>
            <a:r>
              <a:rPr lang="ko-KR" altLang="en-US" dirty="0"/>
              <a:t>를 </a:t>
            </a:r>
            <a:r>
              <a:rPr lang="en-US" altLang="ko-KR" dirty="0"/>
              <a:t>REST</a:t>
            </a:r>
            <a:r>
              <a:rPr lang="ko-KR" altLang="en-US" dirty="0"/>
              <a:t>답게 쓰기 위한 방법으로</a:t>
            </a:r>
            <a:r>
              <a:rPr lang="en-US" altLang="ko-KR" dirty="0"/>
              <a:t>, </a:t>
            </a:r>
            <a:r>
              <a:rPr lang="ko-KR" altLang="en-US" dirty="0"/>
              <a:t>누군가가 공식적으로 </a:t>
            </a:r>
            <a:r>
              <a:rPr lang="ko-KR" altLang="en-US" dirty="0" err="1"/>
              <a:t>발표한것은</a:t>
            </a:r>
            <a:r>
              <a:rPr lang="ko-KR" altLang="en-US" dirty="0"/>
              <a:t> 아님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 〮  즉</a:t>
            </a:r>
            <a:r>
              <a:rPr lang="en-US" altLang="ko-KR" dirty="0"/>
              <a:t>, REST</a:t>
            </a:r>
            <a:r>
              <a:rPr lang="ko-KR" altLang="en-US" dirty="0"/>
              <a:t>원리를 따르는 시스템은 </a:t>
            </a:r>
            <a:r>
              <a:rPr lang="en-US" altLang="ko-KR" dirty="0"/>
              <a:t>RESTful</a:t>
            </a:r>
            <a:r>
              <a:rPr lang="ko-KR" altLang="en-US" dirty="0"/>
              <a:t>이란 용어로 지칭됨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9B024C-1E3C-423A-93D9-DF824B3495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6730" y="3949400"/>
            <a:ext cx="3853843" cy="260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999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RESTful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RESTful</a:t>
            </a:r>
            <a:r>
              <a:rPr lang="ko-KR" altLang="en-US" sz="2800" dirty="0"/>
              <a:t>의 목적</a:t>
            </a:r>
            <a:endParaRPr lang="en-US" altLang="ko-KR" sz="2800" dirty="0"/>
          </a:p>
          <a:p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b="1" dirty="0"/>
              <a:t>이해하기 쉽고 사용하기 쉬운 </a:t>
            </a:r>
            <a:r>
              <a:rPr lang="en-US" altLang="ko-KR" b="1" dirty="0"/>
              <a:t>REST API</a:t>
            </a:r>
            <a:r>
              <a:rPr lang="ko-KR" altLang="en-US" b="1" dirty="0"/>
              <a:t>를 만드는 것</a:t>
            </a:r>
            <a:endParaRPr lang="en-US" altLang="ko-KR" b="1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RESTful</a:t>
            </a:r>
            <a:r>
              <a:rPr lang="ko-KR" altLang="en-US" dirty="0"/>
              <a:t>한 </a:t>
            </a:r>
            <a:r>
              <a:rPr lang="en-US" altLang="ko-KR" dirty="0"/>
              <a:t>API</a:t>
            </a:r>
            <a:r>
              <a:rPr lang="ko-KR" altLang="en-US" dirty="0"/>
              <a:t>를 구현하는 근본적인 목적이 성능향상에 있는 것이 아니라 일관적인 컨벤션을 통한 </a:t>
            </a:r>
            <a:r>
              <a:rPr lang="en-US" altLang="ko-KR" dirty="0"/>
              <a:t>API</a:t>
            </a:r>
            <a:r>
              <a:rPr lang="ko-KR" altLang="en-US" dirty="0"/>
              <a:t>의 이해도 및 호환성을 높이는 것이 주 동기이므로 성능이 중요한 상황에서는 굳이 </a:t>
            </a:r>
            <a:r>
              <a:rPr lang="en-US" altLang="ko-KR" dirty="0"/>
              <a:t>RESTful</a:t>
            </a:r>
            <a:r>
              <a:rPr lang="ko-KR" altLang="en-US" dirty="0"/>
              <a:t>한 </a:t>
            </a:r>
            <a:r>
              <a:rPr lang="en-US" altLang="ko-KR" dirty="0"/>
              <a:t>API</a:t>
            </a:r>
            <a:r>
              <a:rPr lang="ko-KR" altLang="en-US" dirty="0"/>
              <a:t>를 구현할 필요가 없음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r>
              <a:rPr lang="en-US" altLang="ko-KR" i="1" dirty="0"/>
              <a:t>*RESTful</a:t>
            </a:r>
            <a:r>
              <a:rPr lang="ko-KR" altLang="en-US" i="1" dirty="0"/>
              <a:t>하지 못한 경우</a:t>
            </a:r>
            <a:r>
              <a:rPr lang="en-US" altLang="ko-KR" i="1" dirty="0"/>
              <a:t>*</a:t>
            </a:r>
          </a:p>
          <a:p>
            <a:endParaRPr lang="en-US" altLang="ko-KR" dirty="0"/>
          </a:p>
          <a:p>
            <a:r>
              <a:rPr lang="en-US" altLang="ko-KR" dirty="0"/>
              <a:t>Ex 1)CRUD</a:t>
            </a:r>
            <a:r>
              <a:rPr lang="ko-KR" altLang="en-US" dirty="0"/>
              <a:t>기능을 모두 </a:t>
            </a:r>
            <a:r>
              <a:rPr lang="en-US" altLang="ko-KR" dirty="0"/>
              <a:t>POST</a:t>
            </a:r>
            <a:r>
              <a:rPr lang="ko-KR" altLang="en-US" dirty="0"/>
              <a:t>로만 처리하는 </a:t>
            </a:r>
            <a:r>
              <a:rPr lang="en-US" altLang="ko-KR" dirty="0"/>
              <a:t>API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Ex</a:t>
            </a:r>
            <a:r>
              <a:rPr lang="ko-KR" altLang="en-US" dirty="0"/>
              <a:t> </a:t>
            </a:r>
            <a:r>
              <a:rPr lang="en-US" altLang="ko-KR" dirty="0"/>
              <a:t>2)</a:t>
            </a:r>
            <a:r>
              <a:rPr lang="ko-KR" altLang="en-US" dirty="0"/>
              <a:t> </a:t>
            </a:r>
            <a:r>
              <a:rPr lang="en-US" altLang="ko-KR" dirty="0"/>
              <a:t>route</a:t>
            </a:r>
            <a:r>
              <a:rPr lang="ko-KR" altLang="en-US" dirty="0"/>
              <a:t>에 </a:t>
            </a:r>
            <a:r>
              <a:rPr lang="en-US" altLang="ko-KR" dirty="0" err="1"/>
              <a:t>resource,id</a:t>
            </a:r>
            <a:r>
              <a:rPr lang="ko-KR" altLang="en-US" dirty="0"/>
              <a:t>외의 정보가 들어가는 경우</a:t>
            </a:r>
            <a:endParaRPr lang="en-US" altLang="ko-KR" dirty="0"/>
          </a:p>
          <a:p>
            <a:r>
              <a:rPr lang="en-US" altLang="ko-KR" dirty="0"/>
              <a:t>        (/students/</a:t>
            </a:r>
            <a:r>
              <a:rPr lang="en-US" altLang="ko-KR" dirty="0" err="1"/>
              <a:t>updateName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73694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3.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6656270" y="2166925"/>
            <a:ext cx="543819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r>
              <a:rPr lang="en-US" altLang="ko-KR" dirty="0"/>
              <a:t>REST API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REST</a:t>
            </a:r>
            <a:r>
              <a:rPr lang="ko-KR" altLang="en-US" dirty="0"/>
              <a:t>기반의 서비스 </a:t>
            </a:r>
            <a:r>
              <a:rPr lang="en-US" altLang="ko-KR" dirty="0"/>
              <a:t>API</a:t>
            </a:r>
            <a:r>
              <a:rPr lang="ko-KR" altLang="en-US" dirty="0"/>
              <a:t>를 구현한 것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최근 </a:t>
            </a:r>
            <a:r>
              <a:rPr lang="en-US" altLang="ko-KR" dirty="0" err="1"/>
              <a:t>OpenAPI</a:t>
            </a:r>
            <a:r>
              <a:rPr lang="en-US" altLang="ko-KR" dirty="0"/>
              <a:t>, </a:t>
            </a:r>
            <a:r>
              <a:rPr lang="ko-KR" altLang="en-US" dirty="0"/>
              <a:t>마이크로 </a:t>
            </a:r>
            <a:r>
              <a:rPr lang="ko-KR" altLang="en-US" dirty="0" err="1"/>
              <a:t>서비스등을</a:t>
            </a:r>
            <a:r>
              <a:rPr lang="ko-KR" altLang="en-US" dirty="0"/>
              <a:t> 제공하는 업체 대부분은 </a:t>
            </a:r>
            <a:r>
              <a:rPr lang="en-US" altLang="ko-KR" dirty="0"/>
              <a:t>REST API</a:t>
            </a:r>
            <a:r>
              <a:rPr lang="ko-KR" altLang="en-US" dirty="0"/>
              <a:t>를 제공함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AC82C0C-BC14-4A38-80E5-E871E0AA2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55" y="2027498"/>
            <a:ext cx="5240371" cy="341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3008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3.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REST</a:t>
            </a:r>
            <a:r>
              <a:rPr lang="ko-KR" altLang="en-US" sz="2800" dirty="0"/>
              <a:t> </a:t>
            </a:r>
            <a:r>
              <a:rPr lang="en-US" altLang="ko-KR" sz="2800" dirty="0"/>
              <a:t>API</a:t>
            </a:r>
            <a:r>
              <a:rPr lang="ko-KR" altLang="en-US" sz="2800" dirty="0"/>
              <a:t>의 특징</a:t>
            </a:r>
            <a:endParaRPr lang="en-US" altLang="ko-KR" sz="2800" dirty="0"/>
          </a:p>
          <a:p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사내 시스템들도 </a:t>
            </a:r>
            <a:r>
              <a:rPr lang="en-US" altLang="ko-KR" dirty="0"/>
              <a:t>REST</a:t>
            </a:r>
            <a:r>
              <a:rPr lang="ko-KR" altLang="en-US" dirty="0"/>
              <a:t>기반으로 시스템을 분산해 </a:t>
            </a:r>
            <a:r>
              <a:rPr lang="ko-KR" altLang="en-US" b="1" dirty="0">
                <a:solidFill>
                  <a:srgbClr val="FF0000"/>
                </a:solidFill>
              </a:rPr>
              <a:t>확장성과 재사용성을 높여 유지보수 및 운용을 편리</a:t>
            </a:r>
            <a:r>
              <a:rPr lang="ko-KR" altLang="en-US" dirty="0"/>
              <a:t>하게 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 할 수 있음</a:t>
            </a:r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eriod" startAt="2"/>
            </a:pPr>
            <a:r>
              <a:rPr lang="en-US" altLang="ko-KR" dirty="0"/>
              <a:t>REST</a:t>
            </a:r>
            <a:r>
              <a:rPr lang="ko-KR" altLang="en-US" dirty="0"/>
              <a:t>는 </a:t>
            </a:r>
            <a:r>
              <a:rPr lang="en-US" altLang="ko-KR" dirty="0"/>
              <a:t>HTTP</a:t>
            </a:r>
            <a:r>
              <a:rPr lang="ko-KR" altLang="en-US" dirty="0"/>
              <a:t>표준을 기반으로 구현하므로</a:t>
            </a:r>
            <a:r>
              <a:rPr lang="en-US" altLang="ko-KR" dirty="0"/>
              <a:t>,HTTP</a:t>
            </a:r>
            <a:r>
              <a:rPr lang="ko-KR" altLang="en-US" dirty="0"/>
              <a:t>를 지원하는 프로그램 언어로 클라이언트</a:t>
            </a:r>
            <a:r>
              <a:rPr lang="en-US" altLang="ko-KR" dirty="0"/>
              <a:t>,</a:t>
            </a:r>
            <a:r>
              <a:rPr lang="ko-KR" altLang="en-US" dirty="0"/>
              <a:t>서버를 구축할  </a:t>
            </a:r>
            <a:endParaRPr lang="en-US" altLang="ko-KR" dirty="0"/>
          </a:p>
          <a:p>
            <a:r>
              <a:rPr lang="en-US" altLang="ko-KR" dirty="0"/>
              <a:t>    </a:t>
            </a:r>
            <a:r>
              <a:rPr lang="ko-KR" altLang="en-US" dirty="0"/>
              <a:t>수 있음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〮 즉</a:t>
            </a:r>
            <a:r>
              <a:rPr lang="en-US" altLang="ko-KR" dirty="0"/>
              <a:t>,REST API</a:t>
            </a:r>
            <a:r>
              <a:rPr lang="ko-KR" altLang="en-US" dirty="0"/>
              <a:t>를 제작하면 </a:t>
            </a:r>
            <a:r>
              <a:rPr lang="ko-KR" altLang="en-US" dirty="0" err="1"/>
              <a:t>델파이</a:t>
            </a:r>
            <a:r>
              <a:rPr lang="ko-KR" altLang="en-US" dirty="0"/>
              <a:t> 클라이언트 </a:t>
            </a:r>
            <a:r>
              <a:rPr lang="ko-KR" altLang="en-US" dirty="0" err="1"/>
              <a:t>뿐아니라</a:t>
            </a:r>
            <a:r>
              <a:rPr lang="en-US" altLang="ko-KR" dirty="0"/>
              <a:t>, </a:t>
            </a:r>
            <a:r>
              <a:rPr lang="ko-KR" altLang="en-US" dirty="0"/>
              <a:t>자바</a:t>
            </a:r>
            <a:r>
              <a:rPr lang="en-US" altLang="ko-KR" dirty="0"/>
              <a:t>, C#,</a:t>
            </a:r>
            <a:r>
              <a:rPr lang="ko-KR" altLang="en-US" dirty="0"/>
              <a:t>웹 등을 이용해 클라이언트를 제작</a:t>
            </a:r>
            <a:r>
              <a:rPr lang="en-US" altLang="ko-KR" dirty="0"/>
              <a:t>	  </a:t>
            </a:r>
            <a:r>
              <a:rPr lang="ko-KR" altLang="en-US" dirty="0"/>
              <a:t>할 수 있음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82981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3.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REST</a:t>
            </a:r>
            <a:r>
              <a:rPr lang="ko-KR" altLang="en-US" sz="2800" dirty="0"/>
              <a:t> </a:t>
            </a:r>
            <a:r>
              <a:rPr lang="en-US" altLang="ko-KR" sz="2800" dirty="0"/>
              <a:t>API</a:t>
            </a:r>
            <a:r>
              <a:rPr lang="ko-KR" altLang="en-US" sz="2800" dirty="0"/>
              <a:t> 설계 기본 규칙</a:t>
            </a:r>
            <a:endParaRPr lang="en-US" altLang="ko-KR" sz="2800" dirty="0"/>
          </a:p>
          <a:p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URI</a:t>
            </a:r>
            <a:r>
              <a:rPr lang="ko-KR" altLang="en-US" dirty="0"/>
              <a:t>는 정보의 자원을 </a:t>
            </a:r>
            <a:r>
              <a:rPr lang="ko-KR" altLang="en-US" dirty="0" err="1"/>
              <a:t>표현해야함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Resource</a:t>
            </a:r>
            <a:r>
              <a:rPr lang="ko-KR" altLang="en-US" dirty="0"/>
              <a:t>는 동사보다 </a:t>
            </a:r>
            <a:r>
              <a:rPr lang="ko-KR" altLang="en-US" b="1" dirty="0"/>
              <a:t>명사</a:t>
            </a:r>
            <a:r>
              <a:rPr lang="ko-KR" altLang="en-US" dirty="0"/>
              <a:t>를</a:t>
            </a:r>
            <a:r>
              <a:rPr lang="en-US" altLang="ko-KR" dirty="0"/>
              <a:t>, </a:t>
            </a:r>
            <a:r>
              <a:rPr lang="ko-KR" altLang="en-US" dirty="0"/>
              <a:t>대문자보다는 </a:t>
            </a:r>
            <a:r>
              <a:rPr lang="ko-KR" altLang="en-US" b="1" dirty="0"/>
              <a:t>소문자</a:t>
            </a:r>
            <a:r>
              <a:rPr lang="ko-KR" altLang="en-US" dirty="0"/>
              <a:t>를 사용함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Resource</a:t>
            </a:r>
            <a:r>
              <a:rPr lang="ko-KR" altLang="en-US" dirty="0"/>
              <a:t>의 도큐먼트 이름으로는 </a:t>
            </a:r>
            <a:r>
              <a:rPr lang="ko-KR" altLang="en-US" b="1" dirty="0"/>
              <a:t>단수 명사</a:t>
            </a:r>
            <a:r>
              <a:rPr lang="ko-KR" altLang="en-US" dirty="0"/>
              <a:t>를 사용해야함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Resource</a:t>
            </a:r>
            <a:r>
              <a:rPr lang="ko-KR" altLang="en-US" dirty="0"/>
              <a:t>의 컬렉션 이름으로는 </a:t>
            </a:r>
            <a:r>
              <a:rPr lang="ko-KR" altLang="en-US" b="1" dirty="0"/>
              <a:t>복수 명사</a:t>
            </a:r>
            <a:r>
              <a:rPr lang="ko-KR" altLang="en-US" dirty="0"/>
              <a:t>를 사용해야함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Resource</a:t>
            </a:r>
            <a:r>
              <a:rPr lang="ko-KR" altLang="en-US" dirty="0"/>
              <a:t>의 스토어 이름으로는 </a:t>
            </a:r>
            <a:r>
              <a:rPr lang="ko-KR" altLang="en-US" b="1" dirty="0"/>
              <a:t>복수 명사</a:t>
            </a:r>
            <a:r>
              <a:rPr lang="ko-KR" altLang="en-US" dirty="0"/>
              <a:t>를 사용해야함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 〮  </a:t>
            </a:r>
            <a:r>
              <a:rPr lang="en-US" altLang="ko-KR" dirty="0"/>
              <a:t>ex) GET /Member/1 -&gt; GET /members/1</a:t>
            </a:r>
          </a:p>
          <a:p>
            <a:endParaRPr lang="en-US" altLang="ko-KR" dirty="0"/>
          </a:p>
          <a:p>
            <a:r>
              <a:rPr lang="en-US" altLang="ko-KR" dirty="0"/>
              <a:t>6. </a:t>
            </a:r>
            <a:r>
              <a:rPr lang="ko-KR" altLang="en-US" dirty="0"/>
              <a:t>경로 부분 중 변하는 부분은 </a:t>
            </a:r>
            <a:r>
              <a:rPr lang="ko-KR" altLang="en-US" b="1" dirty="0"/>
              <a:t>유일한 값</a:t>
            </a:r>
            <a:r>
              <a:rPr lang="ko-KR" altLang="en-US" dirty="0"/>
              <a:t>으로 대체함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 〮 </a:t>
            </a:r>
            <a:r>
              <a:rPr lang="en-US" altLang="ko-KR" dirty="0"/>
              <a:t>ex1)</a:t>
            </a:r>
            <a:r>
              <a:rPr lang="ko-KR" altLang="en-US" dirty="0"/>
              <a:t> </a:t>
            </a:r>
            <a:r>
              <a:rPr lang="en-US" altLang="ko-KR" dirty="0"/>
              <a:t>student</a:t>
            </a:r>
            <a:r>
              <a:rPr lang="ko-KR" altLang="en-US" dirty="0"/>
              <a:t>를 생성하는 </a:t>
            </a:r>
            <a:r>
              <a:rPr lang="en-US" altLang="ko-KR" dirty="0"/>
              <a:t>route: POST</a:t>
            </a:r>
            <a:r>
              <a:rPr lang="ko-KR" altLang="en-US" dirty="0"/>
              <a:t> </a:t>
            </a:r>
            <a:r>
              <a:rPr lang="en-US" altLang="ko-KR" dirty="0"/>
              <a:t>/students</a:t>
            </a:r>
          </a:p>
          <a:p>
            <a:r>
              <a:rPr lang="en-US" altLang="ko-KR" dirty="0"/>
              <a:t>	</a:t>
            </a:r>
            <a:r>
              <a:rPr lang="ko-KR" altLang="en-US" dirty="0"/>
              <a:t> 〮 </a:t>
            </a:r>
            <a:r>
              <a:rPr lang="en-US" altLang="ko-KR" dirty="0"/>
              <a:t>ex2)</a:t>
            </a:r>
            <a:r>
              <a:rPr lang="ko-KR" altLang="en-US" dirty="0"/>
              <a:t> </a:t>
            </a:r>
            <a:r>
              <a:rPr lang="en-US" altLang="ko-KR" dirty="0"/>
              <a:t>id=12</a:t>
            </a:r>
            <a:r>
              <a:rPr lang="ko-KR" altLang="en-US" dirty="0"/>
              <a:t>인 </a:t>
            </a:r>
            <a:r>
              <a:rPr lang="en-US" altLang="ko-KR" dirty="0"/>
              <a:t>student</a:t>
            </a:r>
            <a:r>
              <a:rPr lang="ko-KR" altLang="en-US" dirty="0"/>
              <a:t>를 삭제하는 </a:t>
            </a:r>
            <a:r>
              <a:rPr lang="en-US" altLang="ko-KR" dirty="0"/>
              <a:t>route: DELETE /students/12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9AEE66-1F68-416F-8AEC-C33849E69C62}"/>
              </a:ext>
            </a:extLst>
          </p:cNvPr>
          <p:cNvSpPr txBox="1"/>
          <p:nvPr/>
        </p:nvSpPr>
        <p:spPr>
          <a:xfrm>
            <a:off x="8069345" y="2517137"/>
            <a:ext cx="34784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※</a:t>
            </a:r>
            <a:r>
              <a:rPr lang="ko-KR" altLang="en-US" sz="1400" dirty="0"/>
              <a:t>참고 리소스 원형</a:t>
            </a:r>
            <a:endParaRPr lang="en-US" altLang="ko-KR" sz="1400" dirty="0"/>
          </a:p>
          <a:p>
            <a:endParaRPr lang="en-US" altLang="ko-KR" sz="14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  <a:p>
            <a:endParaRPr lang="en-US" altLang="ko-KR" sz="1400" dirty="0"/>
          </a:p>
          <a:p>
            <a:r>
              <a:rPr lang="ko-KR" altLang="en-US" sz="1400" dirty="0"/>
              <a:t>〮 도큐먼트</a:t>
            </a:r>
            <a:endParaRPr lang="en-US" altLang="ko-KR" sz="1400" dirty="0"/>
          </a:p>
          <a:p>
            <a:r>
              <a:rPr lang="en-US" altLang="ko-KR" sz="1400" dirty="0"/>
              <a:t>: </a:t>
            </a:r>
            <a:r>
              <a:rPr lang="ko-KR" altLang="en-US" sz="1400" dirty="0"/>
              <a:t>객체 인스턴스나 데이터베이스 레코드와 유사한 개념</a:t>
            </a:r>
            <a:endParaRPr lang="en-US" altLang="ko-KR" sz="1400" dirty="0"/>
          </a:p>
          <a:p>
            <a:r>
              <a:rPr lang="ko-KR" altLang="en-US" sz="1400" dirty="0"/>
              <a:t>〮 컬렉션</a:t>
            </a:r>
            <a:endParaRPr lang="en-US" altLang="ko-KR" sz="1400" dirty="0"/>
          </a:p>
          <a:p>
            <a:r>
              <a:rPr lang="en-US" altLang="ko-KR" sz="1400" dirty="0"/>
              <a:t>:</a:t>
            </a:r>
            <a:r>
              <a:rPr lang="ko-KR" altLang="en-US" sz="1400" dirty="0"/>
              <a:t>서버에서 관리하는 디렉터리라는 리소스</a:t>
            </a:r>
            <a:endParaRPr lang="en-US" altLang="ko-KR" sz="1400" dirty="0"/>
          </a:p>
          <a:p>
            <a:r>
              <a:rPr lang="ko-KR" altLang="en-US" sz="1400" dirty="0"/>
              <a:t>〮 스토어</a:t>
            </a:r>
            <a:endParaRPr lang="en-US" altLang="ko-KR" sz="1400" dirty="0"/>
          </a:p>
          <a:p>
            <a:r>
              <a:rPr lang="en-US" altLang="ko-KR" sz="1400" dirty="0"/>
              <a:t>:</a:t>
            </a:r>
            <a:r>
              <a:rPr lang="ko-KR" altLang="en-US" sz="1400" dirty="0"/>
              <a:t>클라이언트에서 관리하는 리소스 저장소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998987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3.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863832"/>
            <a:ext cx="11360132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REST API </a:t>
            </a:r>
            <a:r>
              <a:rPr lang="ko-KR" altLang="en-US" sz="2800" dirty="0"/>
              <a:t>설계 규칙</a:t>
            </a:r>
            <a:endParaRPr lang="en-US" altLang="ko-KR" sz="2800" dirty="0"/>
          </a:p>
          <a:p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b="1" dirty="0"/>
              <a:t>슬래시 </a:t>
            </a:r>
            <a:r>
              <a:rPr lang="ko-KR" altLang="en-US" b="1" dirty="0" err="1"/>
              <a:t>구분자</a:t>
            </a:r>
            <a:r>
              <a:rPr lang="en-US" altLang="ko-KR" b="1" dirty="0"/>
              <a:t>(/)</a:t>
            </a:r>
            <a:r>
              <a:rPr lang="ko-KR" altLang="en-US" b="1" dirty="0"/>
              <a:t>는</a:t>
            </a:r>
            <a:r>
              <a:rPr lang="en-US" altLang="ko-KR" b="1" dirty="0"/>
              <a:t> </a:t>
            </a:r>
            <a:r>
              <a:rPr lang="ko-KR" altLang="en-US" b="1" dirty="0"/>
              <a:t>계층관계를 나타내는데 사용</a:t>
            </a:r>
            <a:endParaRPr lang="en-US" altLang="ko-KR" b="1" dirty="0"/>
          </a:p>
          <a:p>
            <a:r>
              <a:rPr lang="en-US" altLang="ko-KR" dirty="0"/>
              <a:t>	</a:t>
            </a:r>
            <a:r>
              <a:rPr lang="ko-KR" altLang="en-US" dirty="0"/>
              <a:t> 〮 </a:t>
            </a:r>
            <a:r>
              <a:rPr lang="en-US" altLang="ko-KR" dirty="0"/>
              <a:t>ex) </a:t>
            </a:r>
            <a:r>
              <a:rPr lang="en-US" altLang="ko-KR" dirty="0">
                <a:hlinkClick r:id="rId3"/>
              </a:rPr>
              <a:t>http://restapi.example.com/houses/apartments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2. URI</a:t>
            </a:r>
            <a:r>
              <a:rPr lang="ko-KR" altLang="en-US" b="1" dirty="0"/>
              <a:t> 마지막 문자로 슬래시</a:t>
            </a:r>
            <a:r>
              <a:rPr lang="en-US" altLang="ko-KR" b="1" dirty="0"/>
              <a:t>(/)</a:t>
            </a:r>
            <a:r>
              <a:rPr lang="ko-KR" altLang="en-US" b="1" dirty="0"/>
              <a:t>를</a:t>
            </a:r>
            <a:r>
              <a:rPr lang="en-US" altLang="ko-KR" b="1" dirty="0"/>
              <a:t> </a:t>
            </a:r>
            <a:r>
              <a:rPr lang="ko-KR" altLang="en-US" b="1" dirty="0"/>
              <a:t>포함하지 않음</a:t>
            </a:r>
            <a:endParaRPr lang="en-US" altLang="ko-KR" b="1" dirty="0"/>
          </a:p>
          <a:p>
            <a:r>
              <a:rPr lang="en-US" altLang="ko-KR" dirty="0"/>
              <a:t>	</a:t>
            </a:r>
            <a:r>
              <a:rPr lang="ko-KR" altLang="en-US" dirty="0"/>
              <a:t> 〮 </a:t>
            </a:r>
            <a:r>
              <a:rPr lang="en-US" altLang="ko-KR" dirty="0"/>
              <a:t>URI</a:t>
            </a:r>
            <a:r>
              <a:rPr lang="ko-KR" altLang="en-US" dirty="0"/>
              <a:t>에 포함되는 모든 글자는 리소스의 유일한 식별자로 </a:t>
            </a:r>
            <a:r>
              <a:rPr lang="ko-KR" altLang="en-US" dirty="0" err="1"/>
              <a:t>사용되어야하며</a:t>
            </a:r>
            <a:r>
              <a:rPr lang="ko-KR" altLang="en-US" dirty="0"/>
              <a:t> </a:t>
            </a:r>
            <a:r>
              <a:rPr lang="en-US" altLang="ko-KR" dirty="0"/>
              <a:t>URI</a:t>
            </a:r>
            <a:r>
              <a:rPr lang="ko-KR" altLang="en-US" dirty="0"/>
              <a:t>가 다르다는 것은</a:t>
            </a:r>
            <a:endParaRPr lang="en-US" altLang="ko-KR" dirty="0"/>
          </a:p>
          <a:p>
            <a:r>
              <a:rPr lang="en-US" altLang="ko-KR" dirty="0"/>
              <a:t>	   Resource</a:t>
            </a:r>
            <a:r>
              <a:rPr lang="ko-KR" altLang="en-US" dirty="0"/>
              <a:t>가 다르다는 것이고</a:t>
            </a:r>
            <a:r>
              <a:rPr lang="en-US" altLang="ko-KR" dirty="0"/>
              <a:t>, </a:t>
            </a:r>
            <a:r>
              <a:rPr lang="ko-KR" altLang="en-US" dirty="0"/>
              <a:t>역으로 리소스가 다르면 </a:t>
            </a:r>
            <a:r>
              <a:rPr lang="en-US" altLang="ko-KR" dirty="0"/>
              <a:t>URI</a:t>
            </a:r>
            <a:r>
              <a:rPr lang="ko-KR" altLang="en-US" dirty="0"/>
              <a:t>도 달라져야 함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 〮 </a:t>
            </a:r>
            <a:r>
              <a:rPr lang="en-US" altLang="ko-KR" dirty="0"/>
              <a:t>REST API</a:t>
            </a:r>
            <a:r>
              <a:rPr lang="ko-KR" altLang="en-US" dirty="0"/>
              <a:t>는 분명한 </a:t>
            </a:r>
            <a:r>
              <a:rPr lang="en-US" altLang="ko-KR" dirty="0"/>
              <a:t>URI</a:t>
            </a:r>
            <a:r>
              <a:rPr lang="ko-KR" altLang="en-US" dirty="0"/>
              <a:t>를 만들어 통신을 </a:t>
            </a:r>
            <a:r>
              <a:rPr lang="ko-KR" altLang="en-US" dirty="0" err="1"/>
              <a:t>해야하기</a:t>
            </a:r>
            <a:r>
              <a:rPr lang="ko-KR" altLang="en-US" dirty="0"/>
              <a:t> 때문에 혼동을 주지 않도록 </a:t>
            </a:r>
            <a:r>
              <a:rPr lang="en-US" altLang="ko-KR" dirty="0"/>
              <a:t>URI</a:t>
            </a:r>
            <a:r>
              <a:rPr lang="ko-KR" altLang="en-US" dirty="0"/>
              <a:t>경로의 마지막</a:t>
            </a:r>
            <a:r>
              <a:rPr lang="en-US" altLang="ko-KR" dirty="0"/>
              <a:t>	   </a:t>
            </a:r>
            <a:r>
              <a:rPr lang="ko-KR" altLang="en-US" dirty="0"/>
              <a:t>에는 슬래시</a:t>
            </a:r>
            <a:r>
              <a:rPr lang="en-US" altLang="ko-KR" dirty="0"/>
              <a:t>(/)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사용하지 않음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 〮 </a:t>
            </a:r>
            <a:r>
              <a:rPr lang="en-US" altLang="ko-KR" dirty="0"/>
              <a:t>ex) </a:t>
            </a:r>
            <a:r>
              <a:rPr lang="en-US" altLang="ko-KR" dirty="0">
                <a:hlinkClick r:id="rId4"/>
              </a:rPr>
              <a:t>http://restapi.example.com/houses/apartments/(x)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38800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3.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863832"/>
            <a:ext cx="11360132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3. </a:t>
            </a:r>
            <a:r>
              <a:rPr lang="ko-KR" altLang="en-US" b="1" dirty="0"/>
              <a:t>하이픈</a:t>
            </a:r>
            <a:r>
              <a:rPr lang="en-US" altLang="ko-KR" b="1" dirty="0"/>
              <a:t>(-)</a:t>
            </a:r>
            <a:r>
              <a:rPr lang="ko-KR" altLang="en-US" b="1" dirty="0"/>
              <a:t>을</a:t>
            </a:r>
            <a:r>
              <a:rPr lang="en-US" altLang="ko-KR" b="1" dirty="0"/>
              <a:t> </a:t>
            </a:r>
            <a:r>
              <a:rPr lang="ko-KR" altLang="en-US" b="1" dirty="0"/>
              <a:t>지향하고 밑줄</a:t>
            </a:r>
            <a:r>
              <a:rPr lang="en-US" altLang="ko-KR" b="1" dirty="0"/>
              <a:t>(_)</a:t>
            </a:r>
            <a:r>
              <a:rPr lang="ko-KR" altLang="en-US" b="1" dirty="0"/>
              <a:t>은 </a:t>
            </a:r>
            <a:r>
              <a:rPr lang="en-US" altLang="ko-KR" b="1" dirty="0"/>
              <a:t>URI</a:t>
            </a:r>
            <a:r>
              <a:rPr lang="ko-KR" altLang="en-US" b="1" dirty="0"/>
              <a:t>에 사용하지 않음</a:t>
            </a:r>
            <a:endParaRPr lang="en-US" altLang="ko-KR" b="1" dirty="0"/>
          </a:p>
          <a:p>
            <a:r>
              <a:rPr lang="en-US" altLang="ko-KR" dirty="0"/>
              <a:t>	</a:t>
            </a:r>
            <a:r>
              <a:rPr lang="ko-KR" altLang="en-US" dirty="0"/>
              <a:t> 〮 불가피하게</a:t>
            </a:r>
            <a:r>
              <a:rPr lang="en-US" altLang="ko-KR" dirty="0"/>
              <a:t> </a:t>
            </a:r>
            <a:r>
              <a:rPr lang="ko-KR" altLang="en-US" dirty="0"/>
              <a:t>긴 </a:t>
            </a:r>
            <a:r>
              <a:rPr lang="en-US" altLang="ko-KR" dirty="0"/>
              <a:t>URI </a:t>
            </a:r>
            <a:r>
              <a:rPr lang="ko-KR" altLang="en-US" dirty="0"/>
              <a:t>경로를 사용하게 된다면 하이픈을 사용해 가독성을 높임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 〮 밑줄은 보기 어렵거나 밑줄 때문에 문자가 가려지기도 하므로 가독성을 위해 밑줄은 사용하지 않</a:t>
            </a:r>
            <a:r>
              <a:rPr lang="en-US" altLang="ko-KR" dirty="0"/>
              <a:t>	   </a:t>
            </a:r>
            <a:r>
              <a:rPr lang="ko-KR" altLang="en-US" dirty="0"/>
              <a:t>음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4. URI</a:t>
            </a:r>
            <a:r>
              <a:rPr lang="ko-KR" altLang="en-US" b="1" dirty="0"/>
              <a:t>경로에는 소문자가 적합함</a:t>
            </a:r>
            <a:endParaRPr lang="en-US" altLang="ko-KR" b="1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5. </a:t>
            </a:r>
            <a:r>
              <a:rPr lang="ko-KR" altLang="en-US" b="1" dirty="0"/>
              <a:t>파일확장자는 </a:t>
            </a:r>
            <a:r>
              <a:rPr lang="en-US" altLang="ko-KR" b="1" dirty="0"/>
              <a:t>URI</a:t>
            </a:r>
            <a:r>
              <a:rPr lang="ko-KR" altLang="en-US" b="1" dirty="0"/>
              <a:t>에 포함하지 않음</a:t>
            </a:r>
            <a:endParaRPr lang="en-US" altLang="ko-KR" b="1" dirty="0"/>
          </a:p>
          <a:p>
            <a:r>
              <a:rPr lang="en-US" altLang="ko-KR" dirty="0"/>
              <a:t>	</a:t>
            </a:r>
            <a:r>
              <a:rPr lang="ko-KR" altLang="en-US" dirty="0"/>
              <a:t> 〮 </a:t>
            </a:r>
            <a:r>
              <a:rPr lang="en-US" altLang="ko-KR" dirty="0"/>
              <a:t>REST API</a:t>
            </a:r>
            <a:r>
              <a:rPr lang="ko-KR" altLang="en-US" dirty="0"/>
              <a:t>에서는 메시지 바디 내용의 포맷을 나타내기 위한 파일확장자를 </a:t>
            </a:r>
            <a:r>
              <a:rPr lang="en-US" altLang="ko-KR" dirty="0"/>
              <a:t>URI</a:t>
            </a:r>
            <a:r>
              <a:rPr lang="ko-KR" altLang="en-US" dirty="0"/>
              <a:t>안에 포함시키지 않</a:t>
            </a:r>
            <a:r>
              <a:rPr lang="en-US" altLang="ko-KR" dirty="0"/>
              <a:t>	   </a:t>
            </a:r>
            <a:r>
              <a:rPr lang="ko-KR" altLang="en-US" dirty="0"/>
              <a:t>음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 〮 </a:t>
            </a:r>
            <a:r>
              <a:rPr lang="en-US" altLang="ko-KR" dirty="0"/>
              <a:t>ex)http://restapi.example.com/members/soccer (x)</a:t>
            </a:r>
          </a:p>
          <a:p>
            <a:r>
              <a:rPr lang="en-US" altLang="ko-KR" dirty="0"/>
              <a:t>	   -&gt; GET /members/soccer/345/photo HTTP/1.1 </a:t>
            </a:r>
            <a:r>
              <a:rPr lang="en-US" altLang="ko-KR" dirty="0" err="1"/>
              <a:t>HOST:restapi.example.com</a:t>
            </a:r>
            <a:r>
              <a:rPr lang="en-US" altLang="ko-KR" dirty="0"/>
              <a:t> Accept: image/jpg (o)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6. </a:t>
            </a:r>
            <a:r>
              <a:rPr lang="ko-KR" altLang="en-US" b="1" dirty="0" err="1"/>
              <a:t>리소스간에</a:t>
            </a:r>
            <a:r>
              <a:rPr lang="ko-KR" altLang="en-US" b="1" dirty="0"/>
              <a:t> 연관관계가 있는 경우</a:t>
            </a:r>
            <a:endParaRPr lang="en-US" altLang="ko-KR" b="1" dirty="0"/>
          </a:p>
          <a:p>
            <a:r>
              <a:rPr lang="en-US" altLang="ko-KR" dirty="0"/>
              <a:t>	</a:t>
            </a:r>
            <a:r>
              <a:rPr lang="ko-KR" altLang="en-US" dirty="0"/>
              <a:t> 〮 </a:t>
            </a:r>
            <a:r>
              <a:rPr lang="en-US" altLang="ko-KR" dirty="0"/>
              <a:t>/</a:t>
            </a:r>
            <a:r>
              <a:rPr lang="ko-KR" altLang="en-US" dirty="0"/>
              <a:t>리소스명</a:t>
            </a:r>
            <a:r>
              <a:rPr lang="en-US" altLang="ko-KR" dirty="0"/>
              <a:t>/</a:t>
            </a:r>
            <a:r>
              <a:rPr lang="ko-KR" altLang="en-US" dirty="0"/>
              <a:t>리소스</a:t>
            </a:r>
            <a:r>
              <a:rPr lang="en-US" altLang="ko-KR" dirty="0"/>
              <a:t>ID/</a:t>
            </a:r>
            <a:r>
              <a:rPr lang="ko-KR" altLang="en-US" dirty="0"/>
              <a:t>관계가 있는 다른 리소스명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 〮 </a:t>
            </a:r>
            <a:r>
              <a:rPr lang="en-US" altLang="ko-KR" dirty="0"/>
              <a:t>ex) GET:</a:t>
            </a:r>
            <a:r>
              <a:rPr lang="ko-KR" altLang="en-US" dirty="0"/>
              <a:t> </a:t>
            </a:r>
            <a:r>
              <a:rPr lang="en-US" altLang="ko-KR" dirty="0"/>
              <a:t>/users/{</a:t>
            </a:r>
            <a:r>
              <a:rPr lang="en-US" altLang="ko-KR" dirty="0" err="1"/>
              <a:t>userid</a:t>
            </a:r>
            <a:r>
              <a:rPr lang="en-US" altLang="ko-KR" dirty="0"/>
              <a:t>}/devices</a:t>
            </a:r>
            <a:r>
              <a:rPr lang="ko-KR" altLang="en-US" dirty="0"/>
              <a:t>     </a:t>
            </a:r>
            <a:r>
              <a:rPr lang="en-US" altLang="ko-KR" dirty="0"/>
              <a:t>(‘has’</a:t>
            </a:r>
            <a:r>
              <a:rPr lang="ko-KR" altLang="en-US" dirty="0"/>
              <a:t>관계표현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92691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3.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2.21.2020 / DCLAB Seminar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863832"/>
            <a:ext cx="1136013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REST</a:t>
            </a:r>
            <a:r>
              <a:rPr lang="ko-KR" altLang="en-US" sz="2800" dirty="0"/>
              <a:t> </a:t>
            </a:r>
            <a:r>
              <a:rPr lang="en-US" altLang="ko-KR" sz="2800" dirty="0"/>
              <a:t>API </a:t>
            </a:r>
            <a:r>
              <a:rPr lang="ko-KR" altLang="en-US" sz="2800" dirty="0"/>
              <a:t>설계 예시</a:t>
            </a:r>
            <a:endParaRPr lang="en-US" altLang="ko-KR" sz="2800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E3A5843-0556-40F0-8634-FBE727EF3E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488" y="2025837"/>
            <a:ext cx="8245485" cy="293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590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3.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04359" y="863832"/>
            <a:ext cx="1136013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REST</a:t>
            </a:r>
            <a:r>
              <a:rPr lang="ko-KR" altLang="en-US" sz="2800" dirty="0"/>
              <a:t> </a:t>
            </a:r>
            <a:r>
              <a:rPr lang="en-US" altLang="ko-KR" sz="2800" dirty="0"/>
              <a:t>API</a:t>
            </a:r>
            <a:r>
              <a:rPr lang="ko-KR" altLang="en-US" sz="2800" dirty="0"/>
              <a:t> 구현사례</a:t>
            </a:r>
            <a:endParaRPr lang="en-US" altLang="ko-KR" sz="2800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58E5C89-8F6D-43D0-A079-F4153F0B30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04" y="2362491"/>
            <a:ext cx="3181350" cy="14382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0D9B1A1-775B-4ABB-8C6F-155281A547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9696" y="2010065"/>
            <a:ext cx="2143125" cy="21431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3F2BAF-AE1A-427D-9329-BA2DCB8EEAB9}"/>
              </a:ext>
            </a:extLst>
          </p:cNvPr>
          <p:cNvSpPr txBox="1"/>
          <p:nvPr/>
        </p:nvSpPr>
        <p:spPr>
          <a:xfrm>
            <a:off x="992104" y="4185406"/>
            <a:ext cx="31813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단축 </a:t>
            </a:r>
            <a:r>
              <a:rPr lang="en-US" altLang="ko-KR" dirty="0"/>
              <a:t>URL API</a:t>
            </a:r>
          </a:p>
          <a:p>
            <a:r>
              <a:rPr lang="en-US" altLang="ko-KR" dirty="0"/>
              <a:t>: </a:t>
            </a:r>
            <a:r>
              <a:rPr lang="ko-KR" altLang="en-US" dirty="0"/>
              <a:t>원본 </a:t>
            </a:r>
            <a:r>
              <a:rPr lang="en-US" altLang="ko-KR" dirty="0"/>
              <a:t>URL</a:t>
            </a:r>
            <a:r>
              <a:rPr lang="ko-KR" altLang="en-US" dirty="0"/>
              <a:t>을 짧은 형태의 </a:t>
            </a:r>
            <a:r>
              <a:rPr lang="en-US" altLang="ko-KR" dirty="0"/>
              <a:t>URL</a:t>
            </a:r>
            <a:r>
              <a:rPr lang="ko-KR" altLang="en-US" dirty="0"/>
              <a:t>로 반환하는 </a:t>
            </a:r>
            <a:r>
              <a:rPr lang="en-US" altLang="ko-KR" dirty="0"/>
              <a:t>RESTful API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1EF4B9-0E6C-4F3D-9EEC-957B451F6E20}"/>
              </a:ext>
            </a:extLst>
          </p:cNvPr>
          <p:cNvSpPr txBox="1"/>
          <p:nvPr/>
        </p:nvSpPr>
        <p:spPr>
          <a:xfrm>
            <a:off x="6970798" y="4090381"/>
            <a:ext cx="31813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게시 및 앱 관리 작업을 실행하기 위해 사용할 수 있는 </a:t>
            </a:r>
            <a:r>
              <a:rPr lang="en-US" altLang="ko-KR" dirty="0"/>
              <a:t>REST</a:t>
            </a:r>
            <a:r>
              <a:rPr lang="ko-KR" altLang="en-US" dirty="0"/>
              <a:t>기반 웹 서비스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</a:t>
            </a:r>
            <a:r>
              <a:rPr lang="en-US" altLang="ko-KR" dirty="0"/>
              <a:t>API</a:t>
            </a:r>
            <a:r>
              <a:rPr lang="ko-KR" altLang="en-US" dirty="0"/>
              <a:t>를 사용하여 게시 작업을 출시 관리 프로세스와 통합 할 수 있음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CD2EEA-A059-4E18-A450-AE9DB98822A2}"/>
              </a:ext>
            </a:extLst>
          </p:cNvPr>
          <p:cNvSpPr txBox="1"/>
          <p:nvPr/>
        </p:nvSpPr>
        <p:spPr>
          <a:xfrm>
            <a:off x="8264084" y="4239000"/>
            <a:ext cx="3181350" cy="195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34250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3.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995ED17-0E73-43EC-88FC-DDE12AD2EC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168" y="2355053"/>
            <a:ext cx="3513221" cy="15576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3F2BAF-AE1A-427D-9329-BA2DCB8EEAB9}"/>
              </a:ext>
            </a:extLst>
          </p:cNvPr>
          <p:cNvSpPr txBox="1"/>
          <p:nvPr/>
        </p:nvSpPr>
        <p:spPr>
          <a:xfrm>
            <a:off x="992103" y="4109115"/>
            <a:ext cx="31813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Daum</a:t>
            </a:r>
            <a:r>
              <a:rPr lang="ko-KR" altLang="en-US" dirty="0"/>
              <a:t> 검색 </a:t>
            </a:r>
            <a:r>
              <a:rPr lang="en-US" altLang="ko-KR" dirty="0"/>
              <a:t>API</a:t>
            </a:r>
            <a:r>
              <a:rPr lang="ko-KR" altLang="en-US" dirty="0"/>
              <a:t>는 포털 사이트 </a:t>
            </a:r>
            <a:r>
              <a:rPr lang="en-US" altLang="ko-KR" dirty="0"/>
              <a:t>DAUM</a:t>
            </a:r>
            <a:r>
              <a:rPr lang="ko-KR" altLang="en-US" dirty="0"/>
              <a:t>에서 방대한 웹 문서</a:t>
            </a:r>
            <a:r>
              <a:rPr lang="en-US" altLang="ko-KR" dirty="0"/>
              <a:t>, </a:t>
            </a:r>
            <a:r>
              <a:rPr lang="ko-KR" altLang="en-US" dirty="0"/>
              <a:t>동영상</a:t>
            </a:r>
            <a:r>
              <a:rPr lang="en-US" altLang="ko-KR" dirty="0"/>
              <a:t>,</a:t>
            </a:r>
            <a:r>
              <a:rPr lang="ko-KR" altLang="en-US" dirty="0"/>
              <a:t>이미지 등을 검색하는 기능을 제공함으로써 검색결과는 </a:t>
            </a:r>
            <a:r>
              <a:rPr lang="en-US" altLang="ko-KR" dirty="0"/>
              <a:t>JSON </a:t>
            </a:r>
            <a:r>
              <a:rPr lang="ko-KR" altLang="en-US" dirty="0"/>
              <a:t>객체로 전달돼 서비스에서 자유롭게 </a:t>
            </a:r>
            <a:endParaRPr lang="en-US" altLang="ko-KR" dirty="0"/>
          </a:p>
          <a:p>
            <a:r>
              <a:rPr lang="ko-KR" altLang="en-US" dirty="0"/>
              <a:t>출력하거나 활용할 수 있음</a:t>
            </a:r>
            <a:endParaRPr lang="en-US" altLang="ko-KR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1EF4B9-0E6C-4F3D-9EEC-957B451F6E20}"/>
              </a:ext>
            </a:extLst>
          </p:cNvPr>
          <p:cNvSpPr txBox="1"/>
          <p:nvPr/>
        </p:nvSpPr>
        <p:spPr>
          <a:xfrm>
            <a:off x="6970798" y="4090381"/>
            <a:ext cx="31813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REST</a:t>
            </a:r>
            <a:r>
              <a:rPr lang="ko-KR" altLang="en-US" dirty="0"/>
              <a:t>를 기반으로 하여 만들어지는 </a:t>
            </a:r>
            <a:r>
              <a:rPr lang="en-US" altLang="ko-KR" dirty="0"/>
              <a:t>Twitter</a:t>
            </a:r>
            <a:r>
              <a:rPr lang="ko-KR" altLang="en-US" dirty="0"/>
              <a:t>의 </a:t>
            </a:r>
            <a:r>
              <a:rPr lang="en-US" altLang="ko-KR" dirty="0"/>
              <a:t>API</a:t>
            </a:r>
            <a:r>
              <a:rPr lang="ko-KR" altLang="en-US" dirty="0"/>
              <a:t>는 사용하기 쉽기 때문에 많은 개발자들이 다양한 어플리케이션</a:t>
            </a:r>
            <a:r>
              <a:rPr lang="en-US" altLang="ko-KR" dirty="0"/>
              <a:t>,</a:t>
            </a:r>
            <a:r>
              <a:rPr lang="ko-KR" altLang="en-US" dirty="0"/>
              <a:t>웹 서비스를 만들고 있음</a:t>
            </a:r>
          </a:p>
        </p:txBody>
      </p:sp>
      <p:pic>
        <p:nvPicPr>
          <p:cNvPr id="1026" name="Picture 2" descr="Twitter - Apps on Google Play">
            <a:extLst>
              <a:ext uri="{FF2B5EF4-FFF2-40B4-BE49-F238E27FC236}">
                <a16:creationId xmlns:a16="http://schemas.microsoft.com/office/drawing/2014/main" id="{CCD23159-7D43-4F11-80A7-DD2BEDC47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4965" y="2286453"/>
            <a:ext cx="3013015" cy="1694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3623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4. END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0152E7-3D69-1E4A-8AC8-3C1CBF5791B8}"/>
              </a:ext>
            </a:extLst>
          </p:cNvPr>
          <p:cNvSpPr txBox="1"/>
          <p:nvPr/>
        </p:nvSpPr>
        <p:spPr>
          <a:xfrm>
            <a:off x="5646816" y="3204118"/>
            <a:ext cx="138211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4000" b="1" dirty="0"/>
              <a:t>END</a:t>
            </a:r>
          </a:p>
          <a:p>
            <a:r>
              <a:rPr kumimoji="1" lang="en-US" altLang="ko-KR" sz="4000" b="1" dirty="0"/>
              <a:t> </a:t>
            </a:r>
            <a:r>
              <a:rPr kumimoji="1" lang="ko-KR" altLang="en-US" sz="4000" b="1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endParaRPr lang="ko-KR" altLang="en-US" sz="1600" b="1" dirty="0">
              <a:solidFill>
                <a:srgbClr val="C0504D">
                  <a:lumMod val="75000"/>
                </a:srgbClr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algn="ctr" defTabSz="457200" latinLnBrk="0"/>
            <a:r>
              <a:rPr lang="ko-KR" altLang="en-US" sz="1600" b="1" dirty="0">
                <a:solidFill>
                  <a:srgbClr val="C0504D">
                    <a:lumMod val="75000"/>
                  </a:srgbClr>
                </a:solidFill>
                <a:latin typeface="+mj-ea"/>
                <a:ea typeface="+mj-ea"/>
                <a:cs typeface="Times New Roman" panose="02020603050405020304" pitchFamily="18" charset="0"/>
              </a:rPr>
              <a:t>
</a:t>
            </a:r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664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1243</TotalTime>
  <Words>2294</Words>
  <Application>Microsoft Office PowerPoint</Application>
  <PresentationFormat>와이드스크린</PresentationFormat>
  <Paragraphs>388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7" baseType="lpstr">
      <vt:lpstr>맑은 고딕</vt:lpstr>
      <vt:lpstr>Arial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y7133</dc:creator>
  <cp:lastModifiedBy>y7133</cp:lastModifiedBy>
  <cp:revision>30</cp:revision>
  <dcterms:created xsi:type="dcterms:W3CDTF">2020-07-09T09:06:23Z</dcterms:created>
  <dcterms:modified xsi:type="dcterms:W3CDTF">2020-07-10T05:50:05Z</dcterms:modified>
</cp:coreProperties>
</file>